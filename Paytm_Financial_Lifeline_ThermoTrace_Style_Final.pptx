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8b4bac85a384766" /><Relationship Type="http://schemas.openxmlformats.org/officeDocument/2006/relationships/extended-properties" Target="/docProps/app.xml" Id="R9d48e7cc3360490b" /><Relationship Type="http://schemas.openxmlformats.org/officeDocument/2006/relationships/officeDocument" Target="/ppt/presentation.xml" Id="Rb4abca714ab045a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d3ef50562cd45ea"/>
  </p:sldMasterIdLst>
  <p:notesMasterIdLst>
    <p:notesMasterId xmlns:r="http://schemas.openxmlformats.org/officeDocument/2006/relationships" r:id="Rb21f94fe312e4bce"/>
  </p:notesMasterIdLst>
  <p:sldIdLst>
    <p:sldId xmlns:r="http://schemas.openxmlformats.org/officeDocument/2006/relationships" id="256" r:id="R6c16c55d26c24a92"/>
    <p:sldId xmlns:r="http://schemas.openxmlformats.org/officeDocument/2006/relationships" id="257" r:id="Rf52c63c093d24f9b"/>
    <p:sldId xmlns:r="http://schemas.openxmlformats.org/officeDocument/2006/relationships" id="258" r:id="R32f2c8bba2a54d0f"/>
    <p:sldId xmlns:r="http://schemas.openxmlformats.org/officeDocument/2006/relationships" id="259" r:id="R80a54b2865fc46b7"/>
    <p:sldId xmlns:r="http://schemas.openxmlformats.org/officeDocument/2006/relationships" id="260" r:id="Rbbdfa9e678d24816"/>
    <p:sldId xmlns:r="http://schemas.openxmlformats.org/officeDocument/2006/relationships" id="261" r:id="R27cf2c2e9c794150"/>
    <p:sldId xmlns:r="http://schemas.openxmlformats.org/officeDocument/2006/relationships" id="262" r:id="R8c4e6addda124b59"/>
  </p:sldIdLst>
  <p:sldSz cx="13716000" cy="77152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fefcede6ad840bb" /><Relationship Type="http://schemas.openxmlformats.org/officeDocument/2006/relationships/slideMaster" Target="/ppt/slideMasters/slideMaster1.xml" Id="R8d3ef50562cd45ea" /><Relationship Type="http://schemas.openxmlformats.org/officeDocument/2006/relationships/notesMaster" Target="/ppt/notesMasters/notesMaster1.xml" Id="Rb21f94fe312e4bce" /><Relationship Type="http://schemas.openxmlformats.org/officeDocument/2006/relationships/presProps" Target="/ppt/presProps.xml" Id="Rd217bd173fde4422" /><Relationship Type="http://schemas.openxmlformats.org/officeDocument/2006/relationships/tableStyles" Target="/ppt/tableStyles.xml" Id="R26982c780b1b4dd1" /><Relationship Type="http://schemas.openxmlformats.org/officeDocument/2006/relationships/slide" Target="/ppt/slides/slide1.xml" Id="R6c16c55d26c24a92" /><Relationship Type="http://schemas.openxmlformats.org/officeDocument/2006/relationships/slide" Target="/ppt/slides/slide2.xml" Id="Rf52c63c093d24f9b" /><Relationship Type="http://schemas.openxmlformats.org/officeDocument/2006/relationships/slide" Target="/ppt/slides/slide3.xml" Id="R32f2c8bba2a54d0f" /><Relationship Type="http://schemas.openxmlformats.org/officeDocument/2006/relationships/slide" Target="/ppt/slides/slide4.xml" Id="R80a54b2865fc46b7" /><Relationship Type="http://schemas.openxmlformats.org/officeDocument/2006/relationships/slide" Target="/ppt/slides/slide5.xml" Id="Rbbdfa9e678d24816" /><Relationship Type="http://schemas.openxmlformats.org/officeDocument/2006/relationships/slide" Target="/ppt/slides/slide6.xml" Id="R27cf2c2e9c794150" /><Relationship Type="http://schemas.openxmlformats.org/officeDocument/2006/relationships/slide" Target="/ppt/slides/slide7.xml" Id="R8c4e6addda124b5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d11bafdea02414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373480f64264720" /><Relationship Type="http://schemas.openxmlformats.org/officeDocument/2006/relationships/notesMaster" Target="/ppt/notesMasters/notesMaster1.xml" Id="Raeab25c9a4b34c3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e1f349d68a348a9" /><Relationship Type="http://schemas.openxmlformats.org/officeDocument/2006/relationships/notesMaster" Target="/ppt/notesMasters/notesMaster1.xml" Id="Reb8abe01e968419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e59d9e487f14956" /><Relationship Type="http://schemas.openxmlformats.org/officeDocument/2006/relationships/notesMaster" Target="/ppt/notesMasters/notesMaster1.xml" Id="R9317ea47e468460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623fe6ec1d345c7" /><Relationship Type="http://schemas.openxmlformats.org/officeDocument/2006/relationships/notesMaster" Target="/ppt/notesMasters/notesMaster1.xml" Id="Rbc8fcfbc5ce4423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4a074fbbffb450a" /><Relationship Type="http://schemas.openxmlformats.org/officeDocument/2006/relationships/notesMaster" Target="/ppt/notesMasters/notesMaster1.xml" Id="R503a9bed5e7f460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77e0e6c285942d9" /><Relationship Type="http://schemas.openxmlformats.org/officeDocument/2006/relationships/notesMaster" Target="/ppt/notesMasters/notesMaster1.xml" Id="R003ffe4285d5435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f1ec9c2398747c4" /><Relationship Type="http://schemas.openxmlformats.org/officeDocument/2006/relationships/notesMaster" Target="/ppt/notesMasters/notesMaster1.xml" Id="R7e276f28b52a4d2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Cover slide follows the attached ThermoTrace reference: large serif event title, structured metadata on the left, a content diagram on the right, white background and no photographs.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architecture keeps language understanding separate from regulated decisions. Rules and calculators decide eligibility, claim amounts, APR and affordability.</a:t>
            </a:r>
          </a:p>
          <a:p xmlns:a="http://schemas.openxmlformats.org/drawingml/2006/main">
            <a:r>
              <a:t>IRDAI Health Department: https://irdai.gov.in/health-dept</a:t>
            </a:r>
          </a:p>
          <a:p xmlns:a="http://schemas.openxmlformats.org/drawingml/2006/main">
            <a:r>
              <a:t>RBI Annual Report on digital lending safeguards: https://www.rbi.org.in/scripts/AnnualReportPublications.aspx?Id=1436</a:t>
            </a:r>
          </a:p>
          <a:p xmlns:a="http://schemas.openxmlformats.org/drawingml/2006/main">
            <a:r>
              <a:t>DPDP Act: https://www.meity.gov.in/static/uploads/2024/02/Digital-Personal-Data-Protection-Act-2023-1.pdf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eight-hour MVP uses synthetic user profiles and mock adapters while preserving the production interface boundaries.</a:t>
            </a:r>
          </a:p>
          <a:p xmlns:a="http://schemas.openxmlformats.org/drawingml/2006/main">
            <a:r>
              <a:t>DigiLocker: https://www.digilocker.gov.in/web/technology</a:t>
            </a:r>
          </a:p>
          <a:p xmlns:a="http://schemas.openxmlformats.org/drawingml/2006/main">
            <a:r>
              <a:t>Sahamati Account Aggregator: https://sahamati.org.in/faq/</a:t>
            </a:r>
          </a:p>
          <a:p xmlns:a="http://schemas.openxmlformats.org/drawingml/2006/main">
            <a:r>
              <a:t>Bhashini APIs: https://tts.bhashini.ai/openapi/ui/</a:t>
            </a:r>
          </a:p>
          <a:p xmlns:a="http://schemas.openxmlformats.org/drawingml/2006/main">
            <a:r>
              <a:t>myScheme: https://www.myscheme.gov.in/</a:t>
            </a:r>
          </a:p>
          <a:p xmlns:a="http://schemas.openxmlformats.org/drawingml/2006/main">
            <a:r>
              <a:t>NHCX: https://nha.gov.in/img/resources/EOI-for-auto-adjudication-POC_22.08.2023.pdf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All deployment claims describe a proposed architecture. Production rollout requires partner access, compliance review and controlled pilots.</a:t>
            </a:r>
          </a:p>
          <a:p xmlns:a="http://schemas.openxmlformats.org/drawingml/2006/main">
            <a:r>
              <a:t>DPDP Rules 2025: https://www.meity.gov.in/static/uploads/2025/11/53450e6e5dc0bfa85ebd78686cadad39.pdf</a:t>
            </a:r>
          </a:p>
          <a:p xmlns:a="http://schemas.openxmlformats.org/drawingml/2006/main">
            <a:r>
              <a:t>RBI digital lending safeguards: https://www.rbi.org.in/scripts/AnnualReportPublications.aspx?Id=1436</a:t>
            </a:r>
          </a:p>
          <a:p xmlns:a="http://schemas.openxmlformats.org/drawingml/2006/main">
            <a:r>
              <a:t>IRDAI grievance system: https://bimabharosa.irdai.gov.in/Home/FAQ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Targets on this slide are proposed pilot metrics, not measured results.</a:t>
            </a:r>
          </a:p>
          <a:p xmlns:a="http://schemas.openxmlformats.org/drawingml/2006/main">
            <a:r>
              <a:t>MoSPI NSS 80th Round: https://www.mospi.gov.in/uploads/release_calendar/1776681150721_PRESS_NOTE_HEALTH_REVISED.pdf</a:t>
            </a:r>
          </a:p>
          <a:p xmlns:a="http://schemas.openxmlformats.org/drawingml/2006/main">
            <a:r>
              <a:t>National Health Accounts 2021-22: https://www.mohfw.gov.in/sites/default/files/NHA%202021-22_up.pdf</a:t>
            </a:r>
          </a:p>
          <a:p xmlns:a="http://schemas.openxmlformats.org/drawingml/2006/main">
            <a:r>
              <a:t>WHO India health financing: https://www.who.int/india/health-topics/health-financing</a:t>
            </a:r>
          </a:p>
          <a:p xmlns:a="http://schemas.openxmlformats.org/drawingml/2006/main">
            <a:r>
              <a:t>Paytm Pi: https://paytm.com/blog/artificial-intelligence/introducing-pi-paytm-intelligence/</a:t>
            </a:r>
          </a:p>
          <a:p xmlns:a="http://schemas.openxmlformats.org/drawingml/2006/main">
            <a:r>
              <a:t>Paytm Health Saathi: https://paytm.com/document/ir/press-release/fy2024-25/jul/Paytm-launches-Health-Saathi-Plan-for-Merchants.pdf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demo scope remains honest: synthetic cases and mock adapters prove the end-to-end logic without implying production access to insurer, government or lender systems.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 https://www.mospi.gov.in/uploads/release_calendar/1776681150721_PRESS_NOTE_HEALTH_REVISED.pdf</a:t>
            </a:r>
          </a:p>
          <a:p xmlns:a="http://schemas.openxmlformats.org/drawingml/2006/main">
            <a:r>
              <a:t>2 https://www.mohfw.gov.in/sites/default/files/NHA%202021-22_up.pdf</a:t>
            </a:r>
          </a:p>
          <a:p xmlns:a="http://schemas.openxmlformats.org/drawingml/2006/main">
            <a:r>
              <a:t>3a https://irdai.gov.in/health-dept</a:t>
            </a:r>
          </a:p>
          <a:p xmlns:a="http://schemas.openxmlformats.org/drawingml/2006/main">
            <a:r>
              <a:t>3b https://bimabharosa.irdai.gov.in/Home/FAQ</a:t>
            </a:r>
          </a:p>
          <a:p xmlns:a="http://schemas.openxmlformats.org/drawingml/2006/main">
            <a:r>
              <a:t>4 https://www.rbi.org.in/scripts/AnnualReportPublications.aspx?Id=1436</a:t>
            </a:r>
          </a:p>
          <a:p xmlns:a="http://schemas.openxmlformats.org/drawingml/2006/main">
            <a:r>
              <a:t>5a https://www.meity.gov.in/static/uploads/2024/02/Digital-Personal-Data-Protection-Act-2023-1.pdf</a:t>
            </a:r>
          </a:p>
          <a:p xmlns:a="http://schemas.openxmlformats.org/drawingml/2006/main">
            <a:r>
              <a:t>5b https://www.meity.gov.in/static/uploads/2025/11/53450e6e5dc0bfa85ebd78686cadad39.pdf</a:t>
            </a:r>
          </a:p>
          <a:p xmlns:a="http://schemas.openxmlformats.org/drawingml/2006/main">
            <a:r>
              <a:t>6a https://www.digilocker.gov.in/web/technology</a:t>
            </a:r>
          </a:p>
          <a:p xmlns:a="http://schemas.openxmlformats.org/drawingml/2006/main">
            <a:r>
              <a:t>6b https://sahamati.org.in/faq/</a:t>
            </a:r>
          </a:p>
          <a:p xmlns:a="http://schemas.openxmlformats.org/drawingml/2006/main">
            <a:r>
              <a:t>7a https://www.myscheme.gov.in/</a:t>
            </a:r>
          </a:p>
          <a:p xmlns:a="http://schemas.openxmlformats.org/drawingml/2006/main">
            <a:r>
              <a:t>7b https://tts.bhashini.ai/openapi/ui/</a:t>
            </a:r>
          </a:p>
          <a:p xmlns:a="http://schemas.openxmlformats.org/drawingml/2006/main">
            <a:r>
              <a:t>7c https://nha.gov.in/img/resources/EOI-for-auto-adjudication-POC_22.08.2023.pdf</a:t>
            </a:r>
          </a:p>
          <a:p xmlns:a="http://schemas.openxmlformats.org/drawingml/2006/main">
            <a:r>
              <a:t>8a https://paytm.com/blog/artificial-intelligence/introducing-pi-paytm-intelligence/</a:t>
            </a:r>
          </a:p>
          <a:p xmlns:a="http://schemas.openxmlformats.org/drawingml/2006/main">
            <a:r>
              <a:t>8b https://paytm.com/document/ir/press-release/fy2024-25/jul/Paytm-launches-Health-Saathi-Plan-for-Merchants.pdf</a:t>
            </a:r>
          </a:p>
          <a:p xmlns:a="http://schemas.openxmlformats.org/drawingml/2006/main">
            <a:r>
              <a:t>8c https://ir.paytm.com/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d57a09a3f9474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935edeba85444a7" /><Relationship Type="http://schemas.openxmlformats.org/officeDocument/2006/relationships/slideLayout" Target="/ppt/slideLayouts/slideLayout1.xml" Id="Re5bdc364b905405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5bdc364b905405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cd7204fee44880" /><Relationship Type="http://schemas.openxmlformats.org/officeDocument/2006/relationships/notesSlide" Target="/ppt/notesSlides/notesSlide1.xml" Id="R39e1d4db5b61497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5b1ff6ca2746a9" /><Relationship Type="http://schemas.openxmlformats.org/officeDocument/2006/relationships/notesSlide" Target="/ppt/notesSlides/notesSlide2.xml" Id="R8c198de8913a48f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6901744f6b4790" /><Relationship Type="http://schemas.openxmlformats.org/officeDocument/2006/relationships/notesSlide" Target="/ppt/notesSlides/notesSlide3.xml" Id="Rc5e2eef483d24a6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d552705648468f" /><Relationship Type="http://schemas.openxmlformats.org/officeDocument/2006/relationships/notesSlide" Target="/ppt/notesSlides/notesSlide4.xml" Id="Rb771c6c24ca042d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76a70a770b4805" /><Relationship Type="http://schemas.openxmlformats.org/officeDocument/2006/relationships/notesSlide" Target="/ppt/notesSlides/notesSlide5.xml" Id="R41a962e95f8944e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57b748273a4dec" /><Relationship Type="http://schemas.openxmlformats.org/officeDocument/2006/relationships/notesSlide" Target="/ppt/notesSlides/notesSlide6.xml" Id="Ra71c4e493d814da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ba9e41a19845c2" /><Relationship Type="http://schemas.openxmlformats.org/officeDocument/2006/relationships/notesSlide" Target="/ppt/notesSlides/notesSlide7.xml" Id="R31ef04b8a8c6459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662AC34-7535-417D-AB64-D9C6E0FC5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7175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0297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600" b="1" i="0">
                <a:solidFill>
                  <a:srgbClr val="002970"/>
                </a:solidFill>
                <a:latin typeface="Times New Roman"/>
                <a:ea typeface="Times New Roman"/>
                <a:cs typeface="Times New Roman"/>
              </a:rPr>
              <a:t>PAYTM BUILD FOR INDIA AI HACKATHON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EC7BE3-068A-4FCC-BAEA-D9FE729D3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72925" y="209550"/>
            <a:ext cx="898208" cy="350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84" b="1" i="0">
                <a:solidFill>
                  <a:srgbClr val="00B9F1"/>
                </a:solidFill>
                <a:latin typeface="Arial"/>
                <a:ea typeface="Arial"/>
                <a:cs typeface="Arial"/>
              </a:defRPr>
            </a:pPr>
            <a:r>
              <a:rPr sz="1984" b="1" i="0">
                <a:solidFill>
                  <a:srgbClr val="00B9F1"/>
                </a:solidFill>
                <a:latin typeface="Arial"/>
                <a:ea typeface="Arial"/>
                <a:cs typeface="Arial"/>
              </a:rPr>
              <a:t>pay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A788F8-6B8A-4726-B7A3-ED5AB368C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97289" y="209550"/>
            <a:ext cx="744855" cy="350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84" b="1" i="0">
                <a:solidFill>
                  <a:srgbClr val="002970"/>
                </a:solidFill>
                <a:latin typeface="Arial"/>
                <a:ea typeface="Arial"/>
                <a:cs typeface="Arial"/>
              </a:defRPr>
            </a:pPr>
            <a:r>
              <a:rPr sz="1984" b="1" i="0">
                <a:solidFill>
                  <a:srgbClr val="002970"/>
                </a:solidFill>
                <a:latin typeface="Arial"/>
                <a:ea typeface="Arial"/>
                <a:cs typeface="Arial"/>
              </a:rPr>
              <a:t>tm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BD3D29-77A7-4647-9B51-74A9B7C6C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647700"/>
            <a:ext cx="16954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3F4A56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3F4A56"/>
                </a:solidFill>
                <a:latin typeface="Arial"/>
                <a:ea typeface="Arial"/>
                <a:cs typeface="Arial"/>
              </a:rPr>
              <a:t>BENGALURU EDITION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EF994B-D70B-401C-87C7-407486E73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066800"/>
            <a:ext cx="1200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297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684D7F-2897-4709-AF5A-175A3DFEE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66875"/>
            <a:ext cx="285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25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F35EB0-959D-43D4-B5F2-6E4F6D88D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685925"/>
            <a:ext cx="207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Problem Statement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CDEDC3-F060-46D5-AC0C-C86558887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1685925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34348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1B197F-8B54-45E7-B8B5-E8A2A5EA5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685925"/>
            <a:ext cx="619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AI-Powered Financial Journeys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0ABBA5-05AA-4495-AD22-9A17F08AE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52675"/>
            <a:ext cx="285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25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1762E0-E702-4F33-A919-14D355C89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371725"/>
            <a:ext cx="207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Project Title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BA9AE0-8969-4C67-AA75-3F0F93572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371725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34348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981712-4886-4C2A-8BE1-6CD6BC063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371725"/>
            <a:ext cx="619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Financial Lifeline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953178-57DF-4D42-A019-1C81115E9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38475"/>
            <a:ext cx="285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25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7EF336-5034-4B01-BB82-E88587C05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057525"/>
            <a:ext cx="207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Core Idea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BEE528-DE25-477C-A402-FF8C83184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057525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34348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072368-6590-4D09-BE02-4CE43B922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057525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One recovery journey across insurance, public benefits, documents and safe gap financing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18D87A-D3E2-44FE-AACD-93116F146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24275"/>
            <a:ext cx="285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25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FE9431-F2D5-4A42-A8E1-BAE3C02E9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43325"/>
            <a:ext cx="207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PS Category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AB8F22-4C09-4265-BC3C-5F5FF4CFA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743325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34348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D1CFCA-7ED9-4FF3-963E-268FBBFCF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743325"/>
            <a:ext cx="619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Software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ED66E62-508C-49C2-81D7-C33DE4182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10075"/>
            <a:ext cx="285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25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8D6D831-D2B6-4EB9-BCA2-9758E9BD3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429125"/>
            <a:ext cx="207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Team ID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F02B695-2C95-40E4-850D-164775F70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429125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34348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494864D-7A07-441A-960C-6B63C186A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429125"/>
            <a:ext cx="619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________________________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5B24E3A-D2C3-4C39-8914-E563E2318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95875"/>
            <a:ext cx="285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25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0DDE36B-C6FC-4A4B-B4AE-5BEA10790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114925"/>
            <a:ext cx="207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Team Name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662A434-A293-4D6C-8E77-79D330F7B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5114925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34348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9B59394-23B7-421B-84C4-3B257DBED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5114925"/>
            <a:ext cx="619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________________________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8748FD8-5897-48E9-A00E-3833900D9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81675"/>
            <a:ext cx="285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25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D1CFB06-058B-4B64-AA96-3DD05EFA8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800725"/>
            <a:ext cx="207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College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023B087-AC13-4ACE-BE50-65598C12F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5800725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34348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43809B3-677B-453E-AF55-5631ADB18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5800725"/>
            <a:ext cx="619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____________________________________________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400B93D-7AF4-40D2-80BD-C430AA74E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1562100"/>
            <a:ext cx="3048000" cy="4810125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19050">
            <a:solidFill>
              <a:srgbClr val="D1D5DB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B25FE60-D78C-4FB7-9C2E-50695E98A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1933575"/>
            <a:ext cx="2190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095"/>
          </a:bodyPr>
          <a:lstStyle xmlns:a="http://schemas.openxmlformats.org/drawingml/2006/main"/>
          <a:p xmlns:a="http://schemas.openxmlformats.org/drawingml/2006/main">
            <a:pPr algn="ctr">
              <a:defRPr sz="2625" b="1" i="0">
                <a:solidFill>
                  <a:srgbClr val="00297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25" b="1" i="0">
                <a:solidFill>
                  <a:srgbClr val="002970"/>
                </a:solidFill>
                <a:latin typeface="Times New Roman"/>
                <a:ea typeface="Times New Roman"/>
                <a:cs typeface="Times New Roman"/>
              </a:rPr>
              <a:t>FINANCIAL</a:t>
            </a:r>
          </a:p>
          <a:p xmlns:a="http://schemas.openxmlformats.org/drawingml/2006/main">
            <a:pPr algn="ctr">
              <a:defRPr sz="2625" b="1" i="0">
                <a:solidFill>
                  <a:srgbClr val="00297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25" b="1" i="0">
                <a:solidFill>
                  <a:srgbClr val="002970"/>
                </a:solidFill>
                <a:latin typeface="Times New Roman"/>
                <a:ea typeface="Times New Roman"/>
                <a:cs typeface="Times New Roman"/>
              </a:rPr>
              <a:t>LIFELINE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8BEDC9D-13B5-4C97-9E48-B58AA9177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0670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8BE"/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2985A46-F21F-43E4-9DD6-3EABCBB2B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1623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37F4986-E7CD-40EA-9422-9B4CFE786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3162300"/>
            <a:ext cx="1571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INSURANCE CLAIM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E9D29BA-9272-4770-9788-7860CA2EE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6075" y="3524250"/>
            <a:ext cx="0" cy="22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878BE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3375C06-9A9A-4CF8-880E-3A042218E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7528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8BE"/>
          </a:solidFill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534CFB6-16D6-4F13-8AF1-30C504D12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8481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C98A8C3-F3BE-4122-B4E9-0748D4EF9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3848100"/>
            <a:ext cx="1571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PUBLIC BENEFITS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FD07E41-3423-4EBE-B76A-4F9B59981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6075" y="4210050"/>
            <a:ext cx="0" cy="22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878BE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B0330E2-EA48-436F-9970-383A53227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4386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8BE"/>
          </a:solidFill>
          <a:ln xmlns:a="http://schemas.openxmlformats.org/drawingml/2006/main" w="0">
            <a:noFill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FCB035D-2744-458A-BB74-25E93F223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5339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0FFAE7A-B769-45B1-BEFD-0ED108821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4533900"/>
            <a:ext cx="1571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VERIFIED GAP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1BEEB87-D781-4AA8-B9F5-11DAC6E13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6075" y="4895850"/>
            <a:ext cx="0" cy="22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878BE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1C26C5C-75AD-45F9-AF15-8018CA30D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1244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22B"/>
          </a:solidFill>
          <a:ln xmlns:a="http://schemas.openxmlformats.org/drawingml/2006/main" w="0">
            <a:noFill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278005E-BCAE-4219-BE68-F0716DE77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2197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F2938C9-7FAA-42E3-BBAC-0867E5708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5219700"/>
            <a:ext cx="1571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963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SAFE CREDIT OPTION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12A2EC5-34EF-4439-9228-B9DD33FD2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924550"/>
            <a:ext cx="2381250" cy="3429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D6B0"/>
          </a:solidFill>
          <a:ln xmlns:a="http://schemas.openxmlformats.org/drawingml/2006/main" w="0">
            <a:noFill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D339D0F-C00B-4DCF-8A6F-ED315CB10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6000750"/>
            <a:ext cx="2152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4166"/>
          </a:bodyPr>
          <a:lstStyle xmlns:a="http://schemas.openxmlformats.org/drawingml/2006/main"/>
          <a:p xmlns:a="http://schemas.openxmlformats.org/drawingml/2006/main">
            <a:pPr algn="ctr">
              <a:defRPr sz="1013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13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Claims and benefits before credit</a:t>
            </a:r>
          </a:p>
        </p:txBody>
      </p:sp>
    </p:spTree>
    <p:extLst>
      <p:ext uri="{BB962C8B-B14F-4D97-AF65-F5344CB8AC3E}">
        <p14:creationId xmlns:p14="http://schemas.microsoft.com/office/powerpoint/2010/main" val="58937675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189E9DEB-7ED7-4E63-95A7-26FAB7D1B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71450"/>
            <a:ext cx="590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298"/>
          </a:bodyPr>
          <a:lstStyle xmlns:a="http://schemas.openxmlformats.org/drawingml/2006/main"/>
          <a:p xmlns:a="http://schemas.openxmlformats.org/drawingml/2006/main">
            <a:pPr algn="ctr">
              <a:defRPr sz="25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E8CA44-A6B5-4CE2-8A6B-9253A6E59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28650"/>
            <a:ext cx="704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638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FINANCIAL</a:t>
            </a:r>
          </a:p>
          <a:p xmlns:a="http://schemas.openxmlformats.org/drawingml/2006/main">
            <a:pPr algn="ctr">
              <a:defRPr sz="638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638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LIFELINE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10FF8D-9217-4B52-BD23-E17ADC51A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600" y="171450"/>
            <a:ext cx="671703" cy="2621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84" b="1" i="0">
                <a:solidFill>
                  <a:srgbClr val="00B9F1"/>
                </a:solidFill>
                <a:latin typeface="Arial"/>
                <a:ea typeface="Arial"/>
                <a:cs typeface="Arial"/>
              </a:defRPr>
            </a:pPr>
            <a:r>
              <a:rPr sz="1484" b="1" i="0">
                <a:solidFill>
                  <a:srgbClr val="00B9F1"/>
                </a:solidFill>
                <a:latin typeface="Arial"/>
                <a:ea typeface="Arial"/>
                <a:cs typeface="Arial"/>
              </a:rPr>
              <a:t>pay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F3C758-A51A-45D1-8CF7-A4464EE8C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06516" y="171450"/>
            <a:ext cx="557022" cy="2621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84" b="1" i="0">
                <a:solidFill>
                  <a:srgbClr val="002970"/>
                </a:solidFill>
                <a:latin typeface="Arial"/>
                <a:ea typeface="Arial"/>
                <a:cs typeface="Arial"/>
              </a:defRPr>
            </a:pPr>
            <a:r>
              <a:rPr sz="1484" b="1" i="0">
                <a:solidFill>
                  <a:srgbClr val="002970"/>
                </a:solidFill>
                <a:latin typeface="Arial"/>
                <a:ea typeface="Arial"/>
                <a:cs typeface="Arial"/>
              </a:rPr>
              <a:t>tm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E4B0FC-37B8-4316-983D-7B336C0ED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485775"/>
            <a:ext cx="1428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1" i="0">
                <a:solidFill>
                  <a:srgbClr val="3F4A56"/>
                </a:solidFill>
                <a:latin typeface="Arial"/>
                <a:ea typeface="Arial"/>
                <a:cs typeface="Arial"/>
              </a:defRPr>
            </a:pPr>
            <a:r>
              <a:rPr sz="713" b="1" i="0">
                <a:solidFill>
                  <a:srgbClr val="3F4A56"/>
                </a:solidFill>
                <a:latin typeface="Arial"/>
                <a:ea typeface="Arial"/>
                <a:cs typeface="Arial"/>
              </a:rPr>
              <a:t>BUILD FOR INDIA</a:t>
            </a:r>
          </a:p>
          <a:p xmlns:a="http://schemas.openxmlformats.org/drawingml/2006/main">
            <a:pPr algn="ctr">
              <a:defRPr sz="713" b="1" i="0">
                <a:solidFill>
                  <a:srgbClr val="3F4A56"/>
                </a:solidFill>
                <a:latin typeface="Arial"/>
                <a:ea typeface="Arial"/>
                <a:cs typeface="Arial"/>
              </a:defRPr>
            </a:pPr>
            <a:r>
              <a:rPr sz="713" b="1" i="0">
                <a:solidFill>
                  <a:srgbClr val="3F4A56"/>
                </a:solidFill>
                <a:latin typeface="Arial"/>
                <a:ea typeface="Arial"/>
                <a:cs typeface="Arial"/>
              </a:rPr>
              <a:t>AI HACKATHON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BC17D5-1D93-4836-BB37-752B02714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33350"/>
            <a:ext cx="10953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52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52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FINANCIAL LIFELINE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928F9E-3B0C-4F7D-92A3-E0F15B63B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962025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9A94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90FA66-95F2-49C0-844C-052792F3C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1009650"/>
            <a:ext cx="42481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Problem Solution Approach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4A587F-2637-4609-AB9A-BD1C513B5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495425"/>
            <a:ext cx="5715000" cy="5448300"/>
          </a:xfrm>
          <a:prstGeom xmlns:a="http://schemas.openxmlformats.org/drawingml/2006/main" prst="roundRect">
            <a:avLst>
              <a:gd name="adj" fmla="val 3147"/>
            </a:avLst>
          </a:prstGeom>
          <a:solidFill xmlns:a="http://schemas.openxmlformats.org/drawingml/2006/main">
            <a:srgbClr val="FCE9DD"/>
          </a:solidFill>
          <a:ln xmlns:a="http://schemas.openxmlformats.org/drawingml/2006/main" w="1524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CDF3ED-FE7C-4080-9559-9B4020D55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647825"/>
            <a:ext cx="2190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094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F003ED-5DEE-4569-8BCF-47848F2D1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4782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2853"/>
          </a:bodyPr>
          <a:lstStyle xmlns:a="http://schemas.openxmlformats.org/drawingml/2006/main"/>
          <a:p xmlns:a="http://schemas.openxmlformats.org/drawingml/2006/main">
            <a:pPr algn="l">
              <a:defRPr sz="1388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88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Medical shock intake: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5A4E78-04C6-4490-8179-303E36DBB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05000"/>
            <a:ext cx="5143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2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2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 voice or text conversation captures the hospital event, family context, bill, insurance and urgent cash need.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35D98E-BD6F-4596-B5F7-E6F19095C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647950"/>
            <a:ext cx="2190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094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ACB63F-015B-4B1E-9E5E-CEB3C0096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479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8886"/>
          </a:bodyPr>
          <a:lstStyle xmlns:a="http://schemas.openxmlformats.org/drawingml/2006/main"/>
          <a:p xmlns:a="http://schemas.openxmlformats.org/drawingml/2006/main">
            <a:pPr algn="l">
              <a:defRPr sz="1388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88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Coverage and scheme matching: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F76A83-5CAF-48D2-BD7C-62979D88D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05125"/>
            <a:ext cx="5143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2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2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 deterministic Entitlement Graph checks policies, exclusions, government schemes, limits and claim deadlines.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CC6FF3-977D-4DAE-BA8C-A8701941E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648075"/>
            <a:ext cx="2190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094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266C55-21A8-4E85-B29D-BD001A851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4807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2853"/>
          </a:bodyPr>
          <a:lstStyle xmlns:a="http://schemas.openxmlformats.org/drawingml/2006/main"/>
          <a:p xmlns:a="http://schemas.openxmlformats.org/drawingml/2006/main">
            <a:pPr algn="l">
              <a:defRPr sz="1388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88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Document readiness: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882A17-48DF-46D4-AD0C-29318ACC9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05250"/>
            <a:ext cx="5143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2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2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OCR and verified records create a complete claim packet, identify missing proofs and prefill applications.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27FAE1-3602-45C7-8A85-EA11240CC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648200"/>
            <a:ext cx="2190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094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A318DC-5DBB-468C-A9D6-6011683D4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482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2853"/>
          </a:bodyPr>
          <a:lstStyle xmlns:a="http://schemas.openxmlformats.org/drawingml/2006/main"/>
          <a:p xmlns:a="http://schemas.openxmlformats.org/drawingml/2006/main">
            <a:pPr algn="l">
              <a:defRPr sz="1388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88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Funding gap calculation: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34B56C9-C058-45DD-82A6-2C48AC876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05375"/>
            <a:ext cx="5143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2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2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engine subtracts expected claims and eligible benefits from the payable amount before it evaluates credit.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84E635-3154-4361-BF04-92FC1731E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5648325"/>
            <a:ext cx="2190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094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219489-654D-4419-9A62-8643A30C1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4832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2853"/>
          </a:bodyPr>
          <a:lstStyle xmlns:a="http://schemas.openxmlformats.org/drawingml/2006/main"/>
          <a:p xmlns:a="http://schemas.openxmlformats.org/drawingml/2006/main">
            <a:pPr algn="l">
              <a:defRPr sz="1388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88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Consent based action: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3428A2F-C95B-41AF-9912-CB7F1D8BC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0"/>
            <a:ext cx="5143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2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2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user reviews each submission. Insurers, government authorities and regulated lenders retain every final decision.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4EDE7DA-194E-4998-9666-F3B25E7B1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009650"/>
            <a:ext cx="7000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815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FINANCIAL LIFELINE END-TO-END ARCHITECTURE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431335A-5C39-41A8-8411-FBBCDB69F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1257300"/>
            <a:ext cx="7515225" cy="386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085E99A-4E8A-4642-8C18-E7BE3F424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1438275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INPUTS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FC3BBD5-0107-47D6-A81B-649981911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1704975"/>
            <a:ext cx="1304925" cy="590550"/>
          </a:xfrm>
          <a:prstGeom xmlns:a="http://schemas.openxmlformats.org/drawingml/2006/main" prst="roundRect">
            <a:avLst>
              <a:gd name="adj" fmla="val 11290"/>
            </a:avLst>
          </a:prstGeom>
          <a:solidFill xmlns:a="http://schemas.openxmlformats.org/drawingml/2006/main">
            <a:srgbClr val="FFF7B8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8036AC9-7802-48FE-822D-D85B76568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1762125"/>
            <a:ext cx="11525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1" i="0">
                <a:solidFill>
                  <a:srgbClr val="002970"/>
                </a:solidFill>
                <a:latin typeface="Arial"/>
                <a:ea typeface="Arial"/>
                <a:cs typeface="Arial"/>
              </a:defRPr>
            </a:pPr>
            <a:r>
              <a:rPr sz="863" b="1" i="0">
                <a:solidFill>
                  <a:srgbClr val="002970"/>
                </a:solidFill>
                <a:latin typeface="Arial"/>
                <a:ea typeface="Arial"/>
                <a:cs typeface="Arial"/>
              </a:rPr>
              <a:t>Hospital bill</a:t>
            </a:r>
          </a:p>
          <a:p xmlns:a="http://schemas.openxmlformats.org/drawingml/2006/main">
            <a:pPr algn="ctr">
              <a:defRPr sz="863" b="1" i="0">
                <a:solidFill>
                  <a:srgbClr val="002970"/>
                </a:solidFill>
                <a:latin typeface="Arial"/>
                <a:ea typeface="Arial"/>
                <a:cs typeface="Arial"/>
              </a:defRPr>
            </a:pPr>
            <a:r>
              <a:rPr sz="863" b="1" i="0">
                <a:solidFill>
                  <a:srgbClr val="002970"/>
                </a:solidFill>
                <a:latin typeface="Arial"/>
                <a:ea typeface="Arial"/>
                <a:cs typeface="Arial"/>
              </a:rPr>
              <a:t>Policy document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1EC5C8E-4847-4DAE-BDA7-3ED34BEF0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2466975"/>
            <a:ext cx="1304925" cy="590550"/>
          </a:xfrm>
          <a:prstGeom xmlns:a="http://schemas.openxmlformats.org/drawingml/2006/main" prst="roundRect">
            <a:avLst>
              <a:gd name="adj" fmla="val 11290"/>
            </a:avLst>
          </a:prstGeom>
          <a:solidFill xmlns:a="http://schemas.openxmlformats.org/drawingml/2006/main">
            <a:srgbClr val="FFF7B8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A6EF36B-21AA-4E9D-B897-B31F9833D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524125"/>
            <a:ext cx="11525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1" i="0">
                <a:solidFill>
                  <a:srgbClr val="002970"/>
                </a:solidFill>
                <a:latin typeface="Arial"/>
                <a:ea typeface="Arial"/>
                <a:cs typeface="Arial"/>
              </a:defRPr>
            </a:pPr>
            <a:r>
              <a:rPr sz="863" b="1" i="0">
                <a:solidFill>
                  <a:srgbClr val="002970"/>
                </a:solidFill>
                <a:latin typeface="Arial"/>
                <a:ea typeface="Arial"/>
                <a:cs typeface="Arial"/>
              </a:rPr>
              <a:t>Paytm profile</a:t>
            </a:r>
          </a:p>
          <a:p xmlns:a="http://schemas.openxmlformats.org/drawingml/2006/main">
            <a:pPr algn="ctr">
              <a:defRPr sz="863" b="1" i="0">
                <a:solidFill>
                  <a:srgbClr val="002970"/>
                </a:solidFill>
                <a:latin typeface="Arial"/>
                <a:ea typeface="Arial"/>
                <a:cs typeface="Arial"/>
              </a:defRPr>
            </a:pPr>
            <a:r>
              <a:rPr sz="863" b="1" i="0">
                <a:solidFill>
                  <a:srgbClr val="002970"/>
                </a:solidFill>
                <a:latin typeface="Arial"/>
                <a:ea typeface="Arial"/>
                <a:cs typeface="Arial"/>
              </a:rPr>
              <a:t>Consent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BA95FB5-6BD6-4ED6-BD35-81B598AC4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3228975"/>
            <a:ext cx="1304925" cy="590550"/>
          </a:xfrm>
          <a:prstGeom xmlns:a="http://schemas.openxmlformats.org/drawingml/2006/main" prst="roundRect">
            <a:avLst>
              <a:gd name="adj" fmla="val 11290"/>
            </a:avLst>
          </a:prstGeom>
          <a:solidFill xmlns:a="http://schemas.openxmlformats.org/drawingml/2006/main">
            <a:srgbClr val="FFF7B8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5462BA2-BF8A-412C-9431-EDCBC5C47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3286125"/>
            <a:ext cx="11525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528"/>
          </a:bodyPr>
          <a:lstStyle xmlns:a="http://schemas.openxmlformats.org/drawingml/2006/main"/>
          <a:p xmlns:a="http://schemas.openxmlformats.org/drawingml/2006/main">
            <a:pPr algn="ctr">
              <a:defRPr sz="863" b="1" i="0">
                <a:solidFill>
                  <a:srgbClr val="002970"/>
                </a:solidFill>
                <a:latin typeface="Arial"/>
                <a:ea typeface="Arial"/>
                <a:cs typeface="Arial"/>
              </a:defRPr>
            </a:pPr>
            <a:r>
              <a:rPr sz="863" b="1" i="0">
                <a:solidFill>
                  <a:srgbClr val="002970"/>
                </a:solidFill>
                <a:latin typeface="Arial"/>
                <a:ea typeface="Arial"/>
                <a:cs typeface="Arial"/>
              </a:rPr>
              <a:t>DigiLocker</a:t>
            </a:r>
          </a:p>
          <a:p xmlns:a="http://schemas.openxmlformats.org/drawingml/2006/main">
            <a:pPr algn="ctr">
              <a:defRPr sz="863" b="1" i="0">
                <a:solidFill>
                  <a:srgbClr val="002970"/>
                </a:solidFill>
                <a:latin typeface="Arial"/>
                <a:ea typeface="Arial"/>
                <a:cs typeface="Arial"/>
              </a:defRPr>
            </a:pPr>
            <a:r>
              <a:rPr sz="863" b="1" i="0">
                <a:solidFill>
                  <a:srgbClr val="002970"/>
                </a:solidFill>
                <a:latin typeface="Arial"/>
                <a:ea typeface="Arial"/>
                <a:cs typeface="Arial"/>
              </a:rPr>
              <a:t>Account Aggregator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47B638D-DE5F-4AA2-812F-5209E7CCA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1752600"/>
            <a:ext cx="1647825" cy="590550"/>
          </a:xfrm>
          <a:prstGeom xmlns:a="http://schemas.openxmlformats.org/drawingml/2006/main" prst="roundRect">
            <a:avLst>
              <a:gd name="adj" fmla="val 11290"/>
            </a:avLst>
          </a:prstGeom>
          <a:solidFill xmlns:a="http://schemas.openxmlformats.org/drawingml/2006/main">
            <a:srgbClr val="FFF173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8EE0BA4-4F6C-4A29-89BD-10CC28387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809750"/>
            <a:ext cx="14954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02970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02970"/>
                </a:solidFill>
                <a:latin typeface="Arial"/>
                <a:ea typeface="Arial"/>
                <a:cs typeface="Arial"/>
              </a:rPr>
              <a:t>Event intake and</a:t>
            </a:r>
          </a:p>
          <a:p xmlns:a="http://schemas.openxmlformats.org/drawingml/2006/main">
            <a:pPr algn="ctr">
              <a:defRPr sz="900" b="1" i="0">
                <a:solidFill>
                  <a:srgbClr val="002970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02970"/>
                </a:solidFill>
                <a:latin typeface="Arial"/>
                <a:ea typeface="Arial"/>
                <a:cs typeface="Arial"/>
              </a:rPr>
              <a:t>case creation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B1CA59C-C73A-47BF-B92E-C219ACEAA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552700"/>
            <a:ext cx="1647825" cy="685800"/>
          </a:xfrm>
          <a:prstGeom xmlns:a="http://schemas.openxmlformats.org/drawingml/2006/main" prst="roundRect">
            <a:avLst>
              <a:gd name="adj" fmla="val 9722"/>
            </a:avLst>
          </a:prstGeom>
          <a:solidFill xmlns:a="http://schemas.openxmlformats.org/drawingml/2006/main">
            <a:srgbClr val="FFF173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DCFB2E6-1877-4A07-9468-D2609E363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609850"/>
            <a:ext cx="14954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1" i="0">
                <a:solidFill>
                  <a:srgbClr val="002970"/>
                </a:solidFill>
                <a:latin typeface="Arial"/>
                <a:ea typeface="Arial"/>
                <a:cs typeface="Arial"/>
              </a:defRPr>
            </a:pPr>
            <a:r>
              <a:rPr sz="863" b="1" i="0">
                <a:solidFill>
                  <a:srgbClr val="002970"/>
                </a:solidFill>
                <a:latin typeface="Arial"/>
                <a:ea typeface="Arial"/>
                <a:cs typeface="Arial"/>
              </a:rPr>
              <a:t>ENTITLEMENT GRAPH</a:t>
            </a:r>
          </a:p>
          <a:p xmlns:a="http://schemas.openxmlformats.org/drawingml/2006/main">
            <a:pPr algn="ctr">
              <a:defRPr sz="863" b="1" i="0">
                <a:solidFill>
                  <a:srgbClr val="002970"/>
                </a:solidFill>
                <a:latin typeface="Arial"/>
                <a:ea typeface="Arial"/>
                <a:cs typeface="Arial"/>
              </a:defRPr>
            </a:pPr>
            <a:r>
              <a:rPr sz="863" b="1" i="0">
                <a:solidFill>
                  <a:srgbClr val="002970"/>
                </a:solidFill>
                <a:latin typeface="Arial"/>
                <a:ea typeface="Arial"/>
                <a:cs typeface="Arial"/>
              </a:rPr>
              <a:t>Policies, schemes, limits, deadlines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5CC8CA2-842D-434D-8CC2-9E8D5941C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448050"/>
            <a:ext cx="1647825" cy="685800"/>
          </a:xfrm>
          <a:prstGeom xmlns:a="http://schemas.openxmlformats.org/drawingml/2006/main" prst="roundRect">
            <a:avLst>
              <a:gd name="adj" fmla="val 9722"/>
            </a:avLst>
          </a:prstGeom>
          <a:solidFill xmlns:a="http://schemas.openxmlformats.org/drawingml/2006/main">
            <a:srgbClr val="FFF173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4D85466-4374-41BB-B203-E3E175EEF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505200"/>
            <a:ext cx="14954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40" b="1" i="0">
                <a:solidFill>
                  <a:srgbClr val="002970"/>
                </a:solidFill>
                <a:latin typeface="Arial"/>
                <a:ea typeface="Arial"/>
                <a:cs typeface="Arial"/>
              </a:defRPr>
            </a:pPr>
            <a:r>
              <a:rPr sz="840" b="1" i="0">
                <a:solidFill>
                  <a:srgbClr val="002970"/>
                </a:solidFill>
                <a:latin typeface="Arial"/>
                <a:ea typeface="Arial"/>
                <a:cs typeface="Arial"/>
              </a:rPr>
              <a:t>Document pack builder</a:t>
            </a:r>
          </a:p>
          <a:p xmlns:a="http://schemas.openxmlformats.org/drawingml/2006/main">
            <a:pPr algn="ctr">
              <a:defRPr sz="840" b="1" i="0">
                <a:solidFill>
                  <a:srgbClr val="002970"/>
                </a:solidFill>
                <a:latin typeface="Arial"/>
                <a:ea typeface="Arial"/>
                <a:cs typeface="Arial"/>
              </a:defRPr>
            </a:pPr>
            <a:r>
              <a:rPr sz="840" b="1" i="0">
                <a:solidFill>
                  <a:srgbClr val="002970"/>
                </a:solidFill>
                <a:latin typeface="Arial"/>
                <a:ea typeface="Arial"/>
                <a:cs typeface="Arial"/>
              </a:rPr>
              <a:t>OCR, verification, missing proofs</a:t>
            </a:r>
          </a:p>
        </p:txBody>
      </p:sp>
      <p:cxnSp>
        <p:nvCxnSpPr>
          <p:cNvPr id="130" name=""/>
          <p:cNvCxnSpPr>
            <a:stCxn xmlns:a="http://schemas.openxmlformats.org/drawingml/2006/main" id="28" idx="3"/>
            <a:endCxn xmlns:a="http://schemas.openxmlformats.org/drawingml/2006/main" id="34" idx="1"/>
          </p:cNvCxnSpPr>
          <p:nvPr/>
        </p:nvCxnSpPr>
        <p:spPr>
          <a:xfrm xmlns:a="http://schemas.openxmlformats.org/drawingml/2006/main">
            <a:off x="7505700" y="2000250"/>
            <a:ext cx="361950" cy="476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5240">
            <a:solidFill>
              <a:srgbClr val="000000"/>
            </a:solidFill>
            <a:prstDash val="solid"/>
            <a:tailEnd type="triangle" w="sm" len="sm"/>
          </a:ln>
        </p:spPr>
      </p:cxnSp>
      <p:cxnSp>
        <p:nvCxnSpPr>
          <p:cNvPr id="131" name=""/>
          <p:cNvCxnSpPr>
            <a:stCxn xmlns:a="http://schemas.openxmlformats.org/drawingml/2006/main" id="30" idx="3"/>
            <a:endCxn xmlns:a="http://schemas.openxmlformats.org/drawingml/2006/main" id="34" idx="1"/>
          </p:cNvCxnSpPr>
          <p:nvPr/>
        </p:nvCxnSpPr>
        <p:spPr>
          <a:xfrm xmlns:a="http://schemas.openxmlformats.org/drawingml/2006/main" flipV="1">
            <a:off x="7505700" y="2047875"/>
            <a:ext cx="361950" cy="7143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5240">
            <a:solidFill>
              <a:srgbClr val="000000"/>
            </a:solidFill>
            <a:prstDash val="solid"/>
            <a:tailEnd type="triangle" w="sm" len="sm"/>
          </a:ln>
        </p:spPr>
      </p:cxnSp>
      <p:cxnSp>
        <p:nvCxnSpPr>
          <p:cNvPr id="132" name=""/>
          <p:cNvCxnSpPr>
            <a:stCxn xmlns:a="http://schemas.openxmlformats.org/drawingml/2006/main" id="32" idx="3"/>
            <a:endCxn xmlns:a="http://schemas.openxmlformats.org/drawingml/2006/main" id="38" idx="1"/>
          </p:cNvCxnSpPr>
          <p:nvPr/>
        </p:nvCxnSpPr>
        <p:spPr>
          <a:xfrm xmlns:a="http://schemas.openxmlformats.org/drawingml/2006/main">
            <a:off x="7505700" y="3524250"/>
            <a:ext cx="361950" cy="2667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5240">
            <a:solidFill>
              <a:srgbClr val="000000"/>
            </a:solidFill>
            <a:prstDash val="solid"/>
            <a:tailEnd type="triangle" w="sm" len="sm"/>
          </a:ln>
        </p:spPr>
      </p:cxnSp>
      <p:cxnSp>
        <p:nvCxnSpPr>
          <p:cNvPr id="133" name=""/>
          <p:cNvCxnSpPr>
            <a:stCxn xmlns:a="http://schemas.openxmlformats.org/drawingml/2006/main" id="34" idx="2"/>
            <a:endCxn xmlns:a="http://schemas.openxmlformats.org/drawingml/2006/main" id="36" idx="0"/>
          </p:cNvCxnSpPr>
          <p:nvPr/>
        </p:nvCxnSpPr>
        <p:spPr>
          <a:xfrm xmlns:a="http://schemas.openxmlformats.org/drawingml/2006/main">
            <a:off x="8691563" y="2343150"/>
            <a:ext cx="0" cy="20955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000000"/>
            </a:solidFill>
            <a:prstDash val="solid"/>
            <a:tailEnd type="triangle" w="sm" len="sm"/>
          </a:ln>
        </p:spPr>
      </p:cxnSp>
      <p:cxnSp>
        <p:nvCxnSpPr>
          <p:cNvPr id="134" name=""/>
          <p:cNvCxnSpPr>
            <a:stCxn xmlns:a="http://schemas.openxmlformats.org/drawingml/2006/main" id="36" idx="2"/>
            <a:endCxn xmlns:a="http://schemas.openxmlformats.org/drawingml/2006/main" id="38" idx="0"/>
          </p:cNvCxnSpPr>
          <p:nvPr/>
        </p:nvCxnSpPr>
        <p:spPr>
          <a:xfrm xmlns:a="http://schemas.openxmlformats.org/drawingml/2006/main">
            <a:off x="8691563" y="3238500"/>
            <a:ext cx="0" cy="20955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000000"/>
            </a:solidFill>
            <a:prstDash val="solid"/>
            <a:tailEnd type="triangle" w="sm" len="sm"/>
          </a:ln>
        </p:spPr>
      </p:cxn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DC071AC-4A6C-46C0-A6E6-5BAEFE6A6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685925"/>
            <a:ext cx="1428750" cy="590550"/>
          </a:xfrm>
          <a:prstGeom xmlns:a="http://schemas.openxmlformats.org/drawingml/2006/main" prst="roundRect">
            <a:avLst>
              <a:gd name="adj" fmla="val 11290"/>
            </a:avLst>
          </a:prstGeom>
          <a:solidFill xmlns:a="http://schemas.openxmlformats.org/drawingml/2006/main">
            <a:srgbClr val="FFF7B8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DBC2AEB-2CBA-4644-9688-42F806208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1743075"/>
            <a:ext cx="1276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1" i="0">
                <a:solidFill>
                  <a:srgbClr val="002970"/>
                </a:solidFill>
                <a:latin typeface="Arial"/>
                <a:ea typeface="Arial"/>
                <a:cs typeface="Arial"/>
              </a:defRPr>
            </a:pPr>
            <a:r>
              <a:rPr sz="863" b="1" i="0">
                <a:solidFill>
                  <a:srgbClr val="002970"/>
                </a:solidFill>
                <a:latin typeface="Arial"/>
                <a:ea typeface="Arial"/>
                <a:cs typeface="Arial"/>
              </a:rPr>
              <a:t>Insurance claim</a:t>
            </a:r>
          </a:p>
          <a:p xmlns:a="http://schemas.openxmlformats.org/drawingml/2006/main">
            <a:pPr algn="ctr">
              <a:defRPr sz="863" b="1" i="0">
                <a:solidFill>
                  <a:srgbClr val="002970"/>
                </a:solidFill>
                <a:latin typeface="Arial"/>
                <a:ea typeface="Arial"/>
                <a:cs typeface="Arial"/>
              </a:defRPr>
            </a:pPr>
            <a:r>
              <a:rPr sz="863" b="1" i="0">
                <a:solidFill>
                  <a:srgbClr val="002970"/>
                </a:solidFill>
                <a:latin typeface="Arial"/>
                <a:ea typeface="Arial"/>
                <a:cs typeface="Arial"/>
              </a:rPr>
              <a:t>coverage engine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66A58B6-9583-4C04-BA99-FB139B98B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495550"/>
            <a:ext cx="1428750" cy="590550"/>
          </a:xfrm>
          <a:prstGeom xmlns:a="http://schemas.openxmlformats.org/drawingml/2006/main" prst="roundRect">
            <a:avLst>
              <a:gd name="adj" fmla="val 11290"/>
            </a:avLst>
          </a:prstGeom>
          <a:solidFill xmlns:a="http://schemas.openxmlformats.org/drawingml/2006/main">
            <a:srgbClr val="FFF7B8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56B7882-C52C-46D3-91E0-2F49AAC21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552700"/>
            <a:ext cx="1276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1" i="0">
                <a:solidFill>
                  <a:srgbClr val="002970"/>
                </a:solidFill>
                <a:latin typeface="Arial"/>
                <a:ea typeface="Arial"/>
                <a:cs typeface="Arial"/>
              </a:defRPr>
            </a:pPr>
            <a:r>
              <a:rPr sz="863" b="1" i="0">
                <a:solidFill>
                  <a:srgbClr val="002970"/>
                </a:solidFill>
                <a:latin typeface="Arial"/>
                <a:ea typeface="Arial"/>
                <a:cs typeface="Arial"/>
              </a:rPr>
              <a:t>Public benefit</a:t>
            </a:r>
          </a:p>
          <a:p xmlns:a="http://schemas.openxmlformats.org/drawingml/2006/main">
            <a:pPr algn="ctr">
              <a:defRPr sz="863" b="1" i="0">
                <a:solidFill>
                  <a:srgbClr val="002970"/>
                </a:solidFill>
                <a:latin typeface="Arial"/>
                <a:ea typeface="Arial"/>
                <a:cs typeface="Arial"/>
              </a:defRPr>
            </a:pPr>
            <a:r>
              <a:rPr sz="863" b="1" i="0">
                <a:solidFill>
                  <a:srgbClr val="002970"/>
                </a:solidFill>
                <a:latin typeface="Arial"/>
                <a:ea typeface="Arial"/>
                <a:cs typeface="Arial"/>
              </a:rPr>
              <a:t>eligibility engine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3CD810B-0B09-443B-BF16-5091663AA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305175"/>
            <a:ext cx="1428750" cy="590550"/>
          </a:xfrm>
          <a:prstGeom xmlns:a="http://schemas.openxmlformats.org/drawingml/2006/main" prst="roundRect">
            <a:avLst>
              <a:gd name="adj" fmla="val 11290"/>
            </a:avLst>
          </a:prstGeom>
          <a:solidFill xmlns:a="http://schemas.openxmlformats.org/drawingml/2006/main">
            <a:srgbClr val="FFF7B8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893266F-F121-479C-B466-07167FAC1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362325"/>
            <a:ext cx="1276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1" i="0">
                <a:solidFill>
                  <a:srgbClr val="002970"/>
                </a:solidFill>
                <a:latin typeface="Arial"/>
                <a:ea typeface="Arial"/>
                <a:cs typeface="Arial"/>
              </a:defRPr>
            </a:pPr>
            <a:r>
              <a:rPr sz="863" b="1" i="0">
                <a:solidFill>
                  <a:srgbClr val="002970"/>
                </a:solidFill>
                <a:latin typeface="Arial"/>
                <a:ea typeface="Arial"/>
                <a:cs typeface="Arial"/>
              </a:rPr>
              <a:t>Funding gap</a:t>
            </a:r>
          </a:p>
          <a:p xmlns:a="http://schemas.openxmlformats.org/drawingml/2006/main">
            <a:pPr algn="ctr">
              <a:defRPr sz="863" b="1" i="0">
                <a:solidFill>
                  <a:srgbClr val="002970"/>
                </a:solidFill>
                <a:latin typeface="Arial"/>
                <a:ea typeface="Arial"/>
                <a:cs typeface="Arial"/>
              </a:defRPr>
            </a:pPr>
            <a:r>
              <a:rPr sz="863" b="1" i="0">
                <a:solidFill>
                  <a:srgbClr val="002970"/>
                </a:solidFill>
                <a:latin typeface="Arial"/>
                <a:ea typeface="Arial"/>
                <a:cs typeface="Arial"/>
              </a:rPr>
              <a:t>calculator</a:t>
            </a:r>
          </a:p>
        </p:txBody>
      </p:sp>
      <p:cxnSp>
        <p:nvCxnSpPr>
          <p:cNvPr id="141" name=""/>
          <p:cNvCxnSpPr>
            <a:stCxn xmlns:a="http://schemas.openxmlformats.org/drawingml/2006/main" id="36" idx="3"/>
            <a:endCxn xmlns:a="http://schemas.openxmlformats.org/drawingml/2006/main" id="45" idx="1"/>
          </p:cNvCxnSpPr>
          <p:nvPr/>
        </p:nvCxnSpPr>
        <p:spPr>
          <a:xfrm xmlns:a="http://schemas.openxmlformats.org/drawingml/2006/main" flipV="1">
            <a:off x="9515475" y="1981200"/>
            <a:ext cx="295275" cy="9144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5240">
            <a:solidFill>
              <a:srgbClr val="000000"/>
            </a:solidFill>
            <a:prstDash val="solid"/>
            <a:tailEnd type="triangle" w="sm" len="sm"/>
          </a:ln>
        </p:spPr>
      </p:cxnSp>
      <p:cxnSp>
        <p:nvCxnSpPr>
          <p:cNvPr id="142" name=""/>
          <p:cNvCxnSpPr>
            <a:stCxn xmlns:a="http://schemas.openxmlformats.org/drawingml/2006/main" id="36" idx="3"/>
            <a:endCxn xmlns:a="http://schemas.openxmlformats.org/drawingml/2006/main" id="47" idx="1"/>
          </p:cNvCxnSpPr>
          <p:nvPr/>
        </p:nvCxnSpPr>
        <p:spPr>
          <a:xfrm xmlns:a="http://schemas.openxmlformats.org/drawingml/2006/main" flipV="1">
            <a:off x="9515475" y="2790825"/>
            <a:ext cx="295275" cy="1047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5240">
            <a:solidFill>
              <a:srgbClr val="000000"/>
            </a:solidFill>
            <a:prstDash val="solid"/>
            <a:tailEnd type="triangle" w="sm" len="sm"/>
          </a:ln>
        </p:spPr>
      </p:cxnSp>
      <p:cxnSp>
        <p:nvCxnSpPr>
          <p:cNvPr id="143" name=""/>
          <p:cNvCxnSpPr>
            <a:stCxn xmlns:a="http://schemas.openxmlformats.org/drawingml/2006/main" id="38" idx="3"/>
            <a:endCxn xmlns:a="http://schemas.openxmlformats.org/drawingml/2006/main" id="49" idx="1"/>
          </p:cNvCxnSpPr>
          <p:nvPr/>
        </p:nvCxnSpPr>
        <p:spPr>
          <a:xfrm xmlns:a="http://schemas.openxmlformats.org/drawingml/2006/main" flipV="1">
            <a:off x="9515475" y="3600450"/>
            <a:ext cx="295275" cy="1905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5240">
            <a:solidFill>
              <a:srgbClr val="000000"/>
            </a:solidFill>
            <a:prstDash val="solid"/>
            <a:tailEnd type="triangle" w="sm" len="sm"/>
          </a:ln>
        </p:spPr>
      </p:cxnSp>
      <p:cxnSp>
        <p:nvCxnSpPr>
          <p:cNvPr id="144" name=""/>
          <p:cNvCxnSpPr>
            <a:stCxn xmlns:a="http://schemas.openxmlformats.org/drawingml/2006/main" id="45" idx="2"/>
            <a:endCxn xmlns:a="http://schemas.openxmlformats.org/drawingml/2006/main" id="49" idx="0"/>
          </p:cNvCxnSpPr>
          <p:nvPr/>
        </p:nvCxnSpPr>
        <p:spPr>
          <a:xfrm xmlns:a="http://schemas.openxmlformats.org/drawingml/2006/main">
            <a:off x="10525125" y="2276475"/>
            <a:ext cx="0" cy="102870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000000"/>
            </a:solidFill>
            <a:prstDash val="solid"/>
            <a:tailEnd type="triangle" w="sm" len="sm"/>
          </a:ln>
        </p:spPr>
      </p:cxnSp>
      <p:cxnSp>
        <p:nvCxnSpPr>
          <p:cNvPr id="145" name=""/>
          <p:cNvCxnSpPr>
            <a:stCxn xmlns:a="http://schemas.openxmlformats.org/drawingml/2006/main" id="47" idx="2"/>
            <a:endCxn xmlns:a="http://schemas.openxmlformats.org/drawingml/2006/main" id="49" idx="0"/>
          </p:cNvCxnSpPr>
          <p:nvPr/>
        </p:nvCxnSpPr>
        <p:spPr>
          <a:xfrm xmlns:a="http://schemas.openxmlformats.org/drawingml/2006/main">
            <a:off x="10525125" y="3086100"/>
            <a:ext cx="0" cy="219075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000000"/>
            </a:solidFill>
            <a:prstDash val="solid"/>
            <a:tailEnd type="triangle" w="sm" len="sm"/>
          </a:ln>
        </p:spPr>
      </p:cxn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986F382-FF00-421F-AD1A-83F82AE94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4775" y="2333625"/>
            <a:ext cx="1066800" cy="10668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D9E9FB"/>
          </a:solidFill>
          <a:ln xmlns:a="http://schemas.openxmlformats.org/drawingml/2006/main" w="14288">
            <a:solidFill>
              <a:srgbClr val="0878BE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BEF1744-C023-4648-959D-124388F6A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6225" y="2647950"/>
            <a:ext cx="723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7315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02970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02970"/>
                </a:solidFill>
                <a:latin typeface="Arial"/>
                <a:ea typeface="Arial"/>
                <a:cs typeface="Arial"/>
              </a:rPr>
              <a:t>USER</a:t>
            </a:r>
          </a:p>
          <a:p xmlns:a="http://schemas.openxmlformats.org/drawingml/2006/main">
            <a:pPr algn="ctr">
              <a:defRPr sz="900" b="1" i="0">
                <a:solidFill>
                  <a:srgbClr val="002970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02970"/>
                </a:solidFill>
                <a:latin typeface="Arial"/>
                <a:ea typeface="Arial"/>
                <a:cs typeface="Arial"/>
              </a:rPr>
              <a:t>APPROVES?</a:t>
            </a:r>
          </a:p>
        </p:txBody>
      </p:sp>
      <p:cxnSp>
        <p:nvCxnSpPr>
          <p:cNvPr id="148" name=""/>
          <p:cNvCxnSpPr>
            <a:stCxn xmlns:a="http://schemas.openxmlformats.org/drawingml/2006/main" id="49" idx="3"/>
            <a:endCxn xmlns:a="http://schemas.openxmlformats.org/drawingml/2006/main" id="56" idx="1"/>
          </p:cNvCxnSpPr>
          <p:nvPr/>
        </p:nvCxnSpPr>
        <p:spPr>
          <a:xfrm xmlns:a="http://schemas.openxmlformats.org/drawingml/2006/main" flipV="1">
            <a:off x="11239500" y="2867025"/>
            <a:ext cx="295275" cy="7334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5240">
            <a:solidFill>
              <a:srgbClr val="000000"/>
            </a:solidFill>
            <a:prstDash val="solid"/>
            <a:tailEnd type="triangle" w="sm" len="sm"/>
          </a:ln>
        </p:spPr>
      </p:cxn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CC88CD6-CC55-4E20-8CA7-EECA43868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8575" y="3733800"/>
            <a:ext cx="1381125" cy="8001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173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C01F19F-3DCA-4D5E-B0E3-756CFD622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4775" y="3790950"/>
            <a:ext cx="12287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1" i="0">
                <a:solidFill>
                  <a:srgbClr val="002970"/>
                </a:solidFill>
                <a:latin typeface="Arial"/>
                <a:ea typeface="Arial"/>
                <a:cs typeface="Arial"/>
              </a:defRPr>
            </a:pPr>
            <a:r>
              <a:rPr sz="863" b="1" i="0">
                <a:solidFill>
                  <a:srgbClr val="002970"/>
                </a:solidFill>
                <a:latin typeface="Arial"/>
                <a:ea typeface="Arial"/>
                <a:cs typeface="Arial"/>
              </a:rPr>
              <a:t>Prepare and submit</a:t>
            </a:r>
          </a:p>
          <a:p xmlns:a="http://schemas.openxmlformats.org/drawingml/2006/main">
            <a:pPr algn="ctr">
              <a:defRPr sz="863" b="1" i="0">
                <a:solidFill>
                  <a:srgbClr val="002970"/>
                </a:solidFill>
                <a:latin typeface="Arial"/>
                <a:ea typeface="Arial"/>
                <a:cs typeface="Arial"/>
              </a:defRPr>
            </a:pPr>
            <a:r>
              <a:rPr sz="863" b="1" i="0">
                <a:solidFill>
                  <a:srgbClr val="002970"/>
                </a:solidFill>
                <a:latin typeface="Arial"/>
                <a:ea typeface="Arial"/>
                <a:cs typeface="Arial"/>
              </a:rPr>
              <a:t>Track deadlines</a:t>
            </a:r>
          </a:p>
          <a:p xmlns:a="http://schemas.openxmlformats.org/drawingml/2006/main">
            <a:pPr algn="ctr">
              <a:defRPr sz="863" b="1" i="0">
                <a:solidFill>
                  <a:srgbClr val="002970"/>
                </a:solidFill>
                <a:latin typeface="Arial"/>
                <a:ea typeface="Arial"/>
                <a:cs typeface="Arial"/>
              </a:defRPr>
            </a:pPr>
            <a:r>
              <a:rPr sz="863" b="1" i="0">
                <a:solidFill>
                  <a:srgbClr val="002970"/>
                </a:solidFill>
                <a:latin typeface="Arial"/>
                <a:ea typeface="Arial"/>
                <a:cs typeface="Arial"/>
              </a:rPr>
              <a:t>Escalate exceptions</a:t>
            </a:r>
          </a:p>
        </p:txBody>
      </p:sp>
      <p:cxnSp>
        <p:nvCxnSpPr>
          <p:cNvPr id="151" name=""/>
          <p:cNvCxnSpPr>
            <a:stCxn xmlns:a="http://schemas.openxmlformats.org/drawingml/2006/main" id="56" idx="2"/>
            <a:endCxn xmlns:a="http://schemas.openxmlformats.org/drawingml/2006/main" id="59" idx="0"/>
          </p:cNvCxnSpPr>
          <p:nvPr/>
        </p:nvCxnSpPr>
        <p:spPr>
          <a:xfrm xmlns:a="http://schemas.openxmlformats.org/drawingml/2006/main">
            <a:off x="12068175" y="3400425"/>
            <a:ext cx="80963" cy="3333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5240">
            <a:solidFill>
              <a:srgbClr val="000000"/>
            </a:solidFill>
            <a:prstDash val="solid"/>
            <a:tailEnd type="triangle" w="sm" len="sm"/>
          </a:ln>
        </p:spPr>
      </p:cxn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52AE2B0F-D373-427B-8369-CDF986E38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6300" y="347662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632"/>
          </a:bodyPr>
          <a:lstStyle xmlns:a="http://schemas.openxmlformats.org/drawingml/2006/main"/>
          <a:p xmlns:a="http://schemas.openxmlformats.org/drawingml/2006/main">
            <a:pPr algn="l">
              <a:defRPr sz="713" b="1" i="0">
                <a:solidFill>
                  <a:srgbClr val="159947"/>
                </a:solidFill>
                <a:latin typeface="Arial"/>
                <a:ea typeface="Arial"/>
                <a:cs typeface="Arial"/>
              </a:defRPr>
            </a:pPr>
            <a:r>
              <a:rPr sz="713" b="1" i="0">
                <a:solidFill>
                  <a:srgbClr val="159947"/>
                </a:solidFill>
                <a:latin typeface="Arial"/>
                <a:ea typeface="Arial"/>
                <a:cs typeface="Arial"/>
              </a:rPr>
              <a:t>YES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0C7E9F31-A85F-4DDB-A033-A292CDDB5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20525" y="1676400"/>
            <a:ext cx="914400" cy="4000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DADA"/>
          </a:solidFill>
          <a:ln xmlns:a="http://schemas.openxmlformats.org/drawingml/2006/main" w="13335">
            <a:solidFill>
              <a:srgbClr val="EE402F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1BB7A83C-531A-48A6-88D7-653E0088F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6725" y="173355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8" b="1" i="0">
                <a:solidFill>
                  <a:srgbClr val="002970"/>
                </a:solidFill>
                <a:latin typeface="Arial"/>
                <a:ea typeface="Arial"/>
                <a:cs typeface="Arial"/>
              </a:defRPr>
            </a:pPr>
            <a:r>
              <a:rPr sz="788" b="1" i="0">
                <a:solidFill>
                  <a:srgbClr val="002970"/>
                </a:solidFill>
                <a:latin typeface="Arial"/>
                <a:ea typeface="Arial"/>
                <a:cs typeface="Arial"/>
              </a:rPr>
              <a:t>Revise plan</a:t>
            </a:r>
          </a:p>
        </p:txBody>
      </p:sp>
      <p:cxnSp>
        <p:nvCxnSpPr>
          <p:cNvPr id="155" name=""/>
          <p:cNvCxnSpPr>
            <a:stCxn xmlns:a="http://schemas.openxmlformats.org/drawingml/2006/main" id="56" idx="0"/>
            <a:endCxn xmlns:a="http://schemas.openxmlformats.org/drawingml/2006/main" id="63" idx="2"/>
          </p:cNvCxnSpPr>
          <p:nvPr/>
        </p:nvCxnSpPr>
        <p:spPr>
          <a:xfrm xmlns:a="http://schemas.openxmlformats.org/drawingml/2006/main" flipV="1">
            <a:off x="12068175" y="2076450"/>
            <a:ext cx="209550" cy="2571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5240">
            <a:solidFill>
              <a:srgbClr val="EE402F"/>
            </a:solidFill>
            <a:prstDash val="solid"/>
            <a:tailEnd type="triangle" w="sm" len="sm"/>
          </a:ln>
        </p:spPr>
      </p:cxn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1281C556-4025-4AFE-B3BD-F18F2F7F8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44375" y="211455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632"/>
          </a:bodyPr>
          <a:lstStyle xmlns:a="http://schemas.openxmlformats.org/drawingml/2006/main"/>
          <a:p xmlns:a="http://schemas.openxmlformats.org/drawingml/2006/main">
            <a:pPr algn="l">
              <a:defRPr sz="713" b="1" i="0">
                <a:solidFill>
                  <a:srgbClr val="EE402F"/>
                </a:solidFill>
                <a:latin typeface="Arial"/>
                <a:ea typeface="Arial"/>
                <a:cs typeface="Arial"/>
              </a:defRPr>
            </a:pPr>
            <a:r>
              <a:rPr sz="713" b="1" i="0">
                <a:solidFill>
                  <a:srgbClr val="EE402F"/>
                </a:solidFill>
                <a:latin typeface="Arial"/>
                <a:ea typeface="Arial"/>
                <a:cs typeface="Arial"/>
              </a:rPr>
              <a:t>NO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3C84F8AD-A5D1-4AD3-8A6E-E1530CAAE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324350"/>
            <a:ext cx="3429000" cy="47625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EEF6FD"/>
          </a:solidFill>
          <a:ln xmlns:a="http://schemas.openxmlformats.org/drawingml/2006/main" w="11430">
            <a:solidFill>
              <a:srgbClr val="000000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91735BD4-415D-4CF6-A38D-4B15E238B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4577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660"/>
          </a:bodyPr>
          <a:lstStyle xmlns:a="http://schemas.openxmlformats.org/drawingml/2006/main"/>
          <a:p xmlns:a="http://schemas.openxmlformats.org/drawingml/2006/main">
            <a:pPr algn="ctr">
              <a:defRPr sz="863" b="1" i="0">
                <a:solidFill>
                  <a:srgbClr val="002970"/>
                </a:solidFill>
                <a:latin typeface="Arial"/>
                <a:ea typeface="Arial"/>
                <a:cs typeface="Arial"/>
              </a:defRPr>
            </a:pPr>
            <a:r>
              <a:rPr sz="863" b="1" i="0">
                <a:solidFill>
                  <a:srgbClr val="002970"/>
                </a:solidFill>
                <a:latin typeface="Arial"/>
                <a:ea typeface="Arial"/>
                <a:cs typeface="Arial"/>
              </a:rPr>
              <a:t>CASE TIMELINE: expected money, next action, owner and due date</a:t>
            </a:r>
          </a:p>
        </p:txBody>
      </p:sp>
      <p:cxnSp>
        <p:nvCxnSpPr>
          <p:cNvPr id="159" name=""/>
          <p:cNvCxnSpPr>
            <a:stCxn xmlns:a="http://schemas.openxmlformats.org/drawingml/2006/main" id="59" idx="1"/>
            <a:endCxn xmlns:a="http://schemas.openxmlformats.org/drawingml/2006/main" id="67" idx="3"/>
          </p:cNvCxnSpPr>
          <p:nvPr/>
        </p:nvCxnSpPr>
        <p:spPr>
          <a:xfrm xmlns:a="http://schemas.openxmlformats.org/drawingml/2006/main" flipH="1">
            <a:off x="11239500" y="4133850"/>
            <a:ext cx="219075" cy="4286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5240">
            <a:solidFill>
              <a:srgbClr val="000000"/>
            </a:solidFill>
            <a:prstDash val="solid"/>
            <a:tailEnd type="triangle" w="sm" len="sm"/>
          </a:ln>
        </p:spPr>
      </p:cxn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FDB623FE-636F-47DB-8987-BDB20E9B6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5200650"/>
            <a:ext cx="7515225" cy="1743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D6609558-3560-4322-AD21-025ADA9F9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5305425"/>
            <a:ext cx="2190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922B"/>
          </a:solidFill>
          <a:ln xmlns:a="http://schemas.openxmlformats.org/drawingml/2006/main" w="0">
            <a:noFill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F30502A0-2A41-4086-8975-9409BB504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5353050"/>
            <a:ext cx="19621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What is unique?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DC76B209-6AD6-4575-9A6E-0637ACFA5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867400"/>
            <a:ext cx="1323975" cy="895350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FFD6B0"/>
          </a:solidFill>
          <a:ln xmlns:a="http://schemas.openxmlformats.org/drawingml/2006/main" w="12383">
            <a:solidFill>
              <a:srgbClr val="000000"/>
            </a:solidFill>
            <a:prstDash val="dash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DAA2F8ED-440B-4C4F-9AB9-87EA06056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5991225"/>
            <a:ext cx="11525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941"/>
          </a:bodyPr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ENTITLEMENT GRAPH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5E6EE816-A59A-46BA-A6B7-D1536BB18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6276975"/>
            <a:ext cx="11144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814"/>
          </a:bodyPr>
          <a:lstStyle xmlns:a="http://schemas.openxmlformats.org/drawingml/2006/main"/>
          <a:p xmlns:a="http://schemas.openxmlformats.org/drawingml/2006/main">
            <a:pPr algn="ctr">
              <a:defRPr sz="70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70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Connects policies, public schemes, documents and deadlines in one case.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0226AFF0-A0B3-4180-B44F-AAA785AE5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5867400"/>
            <a:ext cx="1323975" cy="895350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FFE5C9"/>
          </a:solidFill>
          <a:ln xmlns:a="http://schemas.openxmlformats.org/drawingml/2006/main" w="12383">
            <a:solidFill>
              <a:srgbClr val="000000"/>
            </a:solidFill>
            <a:prstDash val="dash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93C5763E-97D9-49F6-90F1-B24D64C08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991225"/>
            <a:ext cx="11525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323"/>
          </a:bodyPr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CLAIM-FIRST GAP SOLVER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E3563EFC-5CFE-41EA-A4CF-0277E07B3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6276975"/>
            <a:ext cx="11144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745"/>
          </a:bodyPr>
          <a:lstStyle xmlns:a="http://schemas.openxmlformats.org/drawingml/2006/main"/>
          <a:p xmlns:a="http://schemas.openxmlformats.org/drawingml/2006/main">
            <a:pPr algn="ctr">
              <a:defRPr sz="70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70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Calculates credit only after expected claims and benefits.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D11817B0-EE90-46E6-A904-D5356EF14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5867400"/>
            <a:ext cx="1323975" cy="895350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FFD6B0"/>
          </a:solidFill>
          <a:ln xmlns:a="http://schemas.openxmlformats.org/drawingml/2006/main" w="12383">
            <a:solidFill>
              <a:srgbClr val="000000"/>
            </a:solidFill>
            <a:prstDash val="dash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6A0AE4A4-A08C-4223-B121-955C28522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5991225"/>
            <a:ext cx="11525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486"/>
          </a:bodyPr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EXPLAINABLE RULES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1FB23C82-7F94-4605-B437-9570B70F6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6276975"/>
            <a:ext cx="11144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745"/>
          </a:bodyPr>
          <a:lstStyle xmlns:a="http://schemas.openxmlformats.org/drawingml/2006/main"/>
          <a:p xmlns:a="http://schemas.openxmlformats.org/drawingml/2006/main">
            <a:pPr algn="ctr">
              <a:defRPr sz="70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70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Eligibility and amounts use deterministic rules with visible evidence.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D205EBE4-7F12-4048-B016-159AEDA73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4175" y="5867400"/>
            <a:ext cx="1323975" cy="895350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FFE5C9"/>
          </a:solidFill>
          <a:ln xmlns:a="http://schemas.openxmlformats.org/drawingml/2006/main" w="12383">
            <a:solidFill>
              <a:srgbClr val="000000"/>
            </a:solidFill>
            <a:prstDash val="dash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6A00976D-15FE-4429-8803-63218B29D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5991225"/>
            <a:ext cx="11525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86"/>
          </a:bodyPr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CONSENT RECEIPTS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75DA464E-0EFE-4CC2-9028-CC9918354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276975"/>
            <a:ext cx="11144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745"/>
          </a:bodyPr>
          <a:lstStyle xmlns:a="http://schemas.openxmlformats.org/drawingml/2006/main"/>
          <a:p xmlns:a="http://schemas.openxmlformats.org/drawingml/2006/main">
            <a:pPr algn="ctr">
              <a:defRPr sz="70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70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Every data access and submission creates a revocable audit record.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1B59948D-6484-49DD-B482-8E952111D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5867400"/>
            <a:ext cx="1323975" cy="895350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FFD6B0"/>
          </a:solidFill>
          <a:ln xmlns:a="http://schemas.openxmlformats.org/drawingml/2006/main" w="12383">
            <a:solidFill>
              <a:srgbClr val="000000"/>
            </a:solidFill>
            <a:prstDash val="dash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6DAD507B-3D2F-4CAF-817C-BC8891AA4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87225" y="5991225"/>
            <a:ext cx="11525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577"/>
          </a:bodyPr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ONE CASE TIMELINE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B3E17D43-DCEB-4A79-8938-4959B94E4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06275" y="6276975"/>
            <a:ext cx="11144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314"/>
          </a:bodyPr>
          <a:lstStyle xmlns:a="http://schemas.openxmlformats.org/drawingml/2006/main"/>
          <a:p xmlns:a="http://schemas.openxmlformats.org/drawingml/2006/main">
            <a:pPr algn="ctr">
              <a:defRPr sz="70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70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Tracks insurer, scheme and lender actions without repeated user follow-up.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ABCAD3C9-94C2-4A3F-B6CE-37BF35C15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239000"/>
            <a:ext cx="1371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8BE"/>
          </a:solidFill>
          <a:ln xmlns:a="http://schemas.openxmlformats.org/drawingml/2006/main" w="0">
            <a:noFill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CE12467E-5018-4E3D-9E1D-26299DB69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736282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556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PAYTM BUILD FOR INDIA AI HACKATHON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920C7101-84EF-47E8-BC08-84F62BF75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77800" y="73533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61553046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37E32676-0CAA-4661-884E-6581334B6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71450"/>
            <a:ext cx="590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298"/>
          </a:bodyPr>
          <a:lstStyle xmlns:a="http://schemas.openxmlformats.org/drawingml/2006/main"/>
          <a:p xmlns:a="http://schemas.openxmlformats.org/drawingml/2006/main">
            <a:pPr algn="ctr">
              <a:defRPr sz="25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C64D3A-6A3E-48AD-AA6E-A047699CF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28650"/>
            <a:ext cx="704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638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FINANCIAL</a:t>
            </a:r>
          </a:p>
          <a:p xmlns:a="http://schemas.openxmlformats.org/drawingml/2006/main">
            <a:pPr algn="ctr">
              <a:defRPr sz="638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638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LIFELINE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6CC8DD-EED5-4751-9DF8-A91DDC493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600" y="171450"/>
            <a:ext cx="671703" cy="2621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84" b="1" i="0">
                <a:solidFill>
                  <a:srgbClr val="00B9F1"/>
                </a:solidFill>
                <a:latin typeface="Arial"/>
                <a:ea typeface="Arial"/>
                <a:cs typeface="Arial"/>
              </a:defRPr>
            </a:pPr>
            <a:r>
              <a:rPr sz="1484" b="1" i="0">
                <a:solidFill>
                  <a:srgbClr val="00B9F1"/>
                </a:solidFill>
                <a:latin typeface="Arial"/>
                <a:ea typeface="Arial"/>
                <a:cs typeface="Arial"/>
              </a:rPr>
              <a:t>pay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E5AFAD-C811-420B-848B-F089BBE10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06516" y="171450"/>
            <a:ext cx="557022" cy="2621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84" b="1" i="0">
                <a:solidFill>
                  <a:srgbClr val="002970"/>
                </a:solidFill>
                <a:latin typeface="Arial"/>
                <a:ea typeface="Arial"/>
                <a:cs typeface="Arial"/>
              </a:defRPr>
            </a:pPr>
            <a:r>
              <a:rPr sz="1484" b="1" i="0">
                <a:solidFill>
                  <a:srgbClr val="002970"/>
                </a:solidFill>
                <a:latin typeface="Arial"/>
                <a:ea typeface="Arial"/>
                <a:cs typeface="Arial"/>
              </a:rPr>
              <a:t>tm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9EAC17-4686-4427-9FC4-F9724C044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485775"/>
            <a:ext cx="1428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1" i="0">
                <a:solidFill>
                  <a:srgbClr val="3F4A56"/>
                </a:solidFill>
                <a:latin typeface="Arial"/>
                <a:ea typeface="Arial"/>
                <a:cs typeface="Arial"/>
              </a:defRPr>
            </a:pPr>
            <a:r>
              <a:rPr sz="713" b="1" i="0">
                <a:solidFill>
                  <a:srgbClr val="3F4A56"/>
                </a:solidFill>
                <a:latin typeface="Arial"/>
                <a:ea typeface="Arial"/>
                <a:cs typeface="Arial"/>
              </a:rPr>
              <a:t>BUILD FOR INDIA</a:t>
            </a:r>
          </a:p>
          <a:p xmlns:a="http://schemas.openxmlformats.org/drawingml/2006/main">
            <a:pPr algn="ctr">
              <a:defRPr sz="713" b="1" i="0">
                <a:solidFill>
                  <a:srgbClr val="3F4A56"/>
                </a:solidFill>
                <a:latin typeface="Arial"/>
                <a:ea typeface="Arial"/>
                <a:cs typeface="Arial"/>
              </a:defRPr>
            </a:pPr>
            <a:r>
              <a:rPr sz="713" b="1" i="0">
                <a:solidFill>
                  <a:srgbClr val="3F4A56"/>
                </a:solidFill>
                <a:latin typeface="Arial"/>
                <a:ea typeface="Arial"/>
                <a:cs typeface="Arial"/>
              </a:rPr>
              <a:t>AI HACKATHON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8DDB5D-BC1B-496F-92DC-11AE59A37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33350"/>
            <a:ext cx="10953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52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52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TECHNICAL APPROACH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B42DDC-36DA-4079-A778-013C0BFE6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981075"/>
            <a:ext cx="0" cy="6257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A19180-3BD0-43D5-A44A-3AC24FAAA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981075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000"/>
          </a:bodyPr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TECH STACK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BE8D01-09AE-461C-BD4E-B5924E043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600200"/>
            <a:ext cx="6667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002970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BB255D-61ED-45F1-A570-2ACE2FE5B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0225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NEX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425F26-DD85-405C-8737-652192F00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431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NEXT.JS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D54294-9FF5-42FE-BD6F-979C613C1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5270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24"/>
          </a:bodyPr>
          <a:lstStyle xmlns:a="http://schemas.openxmlformats.org/drawingml/2006/main"/>
          <a:p xmlns:a="http://schemas.openxmlformats.org/drawingml/2006/main">
            <a:pPr algn="ctr">
              <a:defRPr sz="788" b="0" i="0">
                <a:solidFill>
                  <a:srgbClr val="3F4A56"/>
                </a:solidFill>
                <a:latin typeface="Arial"/>
                <a:ea typeface="Arial"/>
                <a:cs typeface="Arial"/>
              </a:defRPr>
            </a:pPr>
            <a:r>
              <a:rPr sz="788" b="0" i="0">
                <a:solidFill>
                  <a:srgbClr val="3F4A56"/>
                </a:solidFill>
                <a:latin typeface="Arial"/>
                <a:ea typeface="Arial"/>
                <a:cs typeface="Arial"/>
              </a:rPr>
              <a:t>Experience layer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296C80-5B7E-46E9-A4A9-5034E42F3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1600200"/>
            <a:ext cx="6667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0878BE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C221E1-4704-4975-BE1D-91E1A9D18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1800225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TYP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2BAFAA-BD03-4BD9-B19A-58A7C60C9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3431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TYPESCRIPT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182897-2D66-4685-B094-7C1A6BA41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55270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24"/>
          </a:bodyPr>
          <a:lstStyle xmlns:a="http://schemas.openxmlformats.org/drawingml/2006/main"/>
          <a:p xmlns:a="http://schemas.openxmlformats.org/drawingml/2006/main">
            <a:pPr algn="ctr">
              <a:defRPr sz="788" b="0" i="0">
                <a:solidFill>
                  <a:srgbClr val="3F4A56"/>
                </a:solidFill>
                <a:latin typeface="Arial"/>
                <a:ea typeface="Arial"/>
                <a:cs typeface="Arial"/>
              </a:defRPr>
            </a:pPr>
            <a:r>
              <a:rPr sz="788" b="0" i="0">
                <a:solidFill>
                  <a:srgbClr val="3F4A56"/>
                </a:solidFill>
                <a:latin typeface="Arial"/>
                <a:ea typeface="Arial"/>
                <a:cs typeface="Arial"/>
              </a:rPr>
              <a:t>Typed interfaces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3CD05B-B14F-47FF-A148-E3D0E4E8B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600200"/>
            <a:ext cx="6667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002970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53C57C-DE60-4804-A75C-82C4DEF0A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800225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FAS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704043-630C-4A58-8FFB-37B5CA9B7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3431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FASTAPI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783EDC3-35B2-4C44-BE08-D2FBD6ADF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55270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24"/>
          </a:bodyPr>
          <a:lstStyle xmlns:a="http://schemas.openxmlformats.org/drawingml/2006/main"/>
          <a:p xmlns:a="http://schemas.openxmlformats.org/drawingml/2006/main">
            <a:pPr algn="ctr">
              <a:defRPr sz="788" b="0" i="0">
                <a:solidFill>
                  <a:srgbClr val="3F4A56"/>
                </a:solidFill>
                <a:latin typeface="Arial"/>
                <a:ea typeface="Arial"/>
                <a:cs typeface="Arial"/>
              </a:defRPr>
            </a:pPr>
            <a:r>
              <a:rPr sz="788" b="0" i="0">
                <a:solidFill>
                  <a:srgbClr val="3F4A56"/>
                </a:solidFill>
                <a:latin typeface="Arial"/>
                <a:ea typeface="Arial"/>
                <a:cs typeface="Arial"/>
              </a:rPr>
              <a:t>Service APIs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3EC9B4-B5ED-4598-8A9A-AB44CC8E5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1600200"/>
            <a:ext cx="6667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0878BE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8646CB2-9E60-4CA4-A701-B493B8AC7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1800225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PYT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5803BF2-B1EF-4495-8386-76284B344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3431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PYTHON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A26F593-4456-4CD6-9D2D-30B057BE2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55270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24"/>
          </a:bodyPr>
          <a:lstStyle xmlns:a="http://schemas.openxmlformats.org/drawingml/2006/main"/>
          <a:p xmlns:a="http://schemas.openxmlformats.org/drawingml/2006/main">
            <a:pPr algn="ctr">
              <a:defRPr sz="788" b="0" i="0">
                <a:solidFill>
                  <a:srgbClr val="3F4A56"/>
                </a:solidFill>
                <a:latin typeface="Arial"/>
                <a:ea typeface="Arial"/>
                <a:cs typeface="Arial"/>
              </a:defRPr>
            </a:pPr>
            <a:r>
              <a:rPr sz="788" b="0" i="0">
                <a:solidFill>
                  <a:srgbClr val="3F4A56"/>
                </a:solidFill>
                <a:latin typeface="Arial"/>
                <a:ea typeface="Arial"/>
                <a:cs typeface="Arial"/>
              </a:rPr>
              <a:t>Rules and OCR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6502681-C681-4C8B-A6F7-A4FD571D7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00350"/>
            <a:ext cx="6667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002970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21F3B15-7515-4D43-8017-B64E8320C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00375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POS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6C6CDFF-331E-40B4-9985-F6735BC3A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433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POSTGRES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32C473A-E477-4091-B700-6D20657AC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5285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24"/>
          </a:bodyPr>
          <a:lstStyle xmlns:a="http://schemas.openxmlformats.org/drawingml/2006/main"/>
          <a:p xmlns:a="http://schemas.openxmlformats.org/drawingml/2006/main">
            <a:pPr algn="ctr">
              <a:defRPr sz="788" b="0" i="0">
                <a:solidFill>
                  <a:srgbClr val="3F4A56"/>
                </a:solidFill>
                <a:latin typeface="Arial"/>
                <a:ea typeface="Arial"/>
                <a:cs typeface="Arial"/>
              </a:defRPr>
            </a:pPr>
            <a:r>
              <a:rPr sz="788" b="0" i="0">
                <a:solidFill>
                  <a:srgbClr val="3F4A56"/>
                </a:solidFill>
                <a:latin typeface="Arial"/>
                <a:ea typeface="Arial"/>
                <a:cs typeface="Arial"/>
              </a:rPr>
              <a:t>Case and audit data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38B1461-BDE0-49E8-B926-C4D4AE0F4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800350"/>
            <a:ext cx="6667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0878BE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EB0ECCE-1EA0-42C0-B44E-76176F5D0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000375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PGV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09C6F53-F835-44B0-A324-32D5658B2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5433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PGVECTOR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343EEA4-F7CE-432F-B5E8-65480697B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75285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24"/>
          </a:bodyPr>
          <a:lstStyle xmlns:a="http://schemas.openxmlformats.org/drawingml/2006/main"/>
          <a:p xmlns:a="http://schemas.openxmlformats.org/drawingml/2006/main">
            <a:pPr algn="ctr">
              <a:defRPr sz="788" b="0" i="0">
                <a:solidFill>
                  <a:srgbClr val="3F4A56"/>
                </a:solidFill>
                <a:latin typeface="Arial"/>
                <a:ea typeface="Arial"/>
                <a:cs typeface="Arial"/>
              </a:defRPr>
            </a:pPr>
            <a:r>
              <a:rPr sz="788" b="0" i="0">
                <a:solidFill>
                  <a:srgbClr val="3F4A56"/>
                </a:solidFill>
                <a:latin typeface="Arial"/>
                <a:ea typeface="Arial"/>
                <a:cs typeface="Arial"/>
              </a:rPr>
              <a:t>Policy retrieval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339E415-9646-4262-8E66-3515F1A3C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800350"/>
            <a:ext cx="6667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002970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7EC7EDC-CE08-4391-9C5E-A7CBE24DE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000375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BHA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C4D3EF8-742D-4A3D-AEEA-1EC7ACE2A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5433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BHASHINI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A0DEB9E-CDD0-4460-BF53-1F09BD898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75285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24"/>
          </a:bodyPr>
          <a:lstStyle xmlns:a="http://schemas.openxmlformats.org/drawingml/2006/main"/>
          <a:p xmlns:a="http://schemas.openxmlformats.org/drawingml/2006/main">
            <a:pPr algn="ctr">
              <a:defRPr sz="788" b="0" i="0">
                <a:solidFill>
                  <a:srgbClr val="3F4A56"/>
                </a:solidFill>
                <a:latin typeface="Arial"/>
                <a:ea typeface="Arial"/>
                <a:cs typeface="Arial"/>
              </a:defRPr>
            </a:pPr>
            <a:r>
              <a:rPr sz="788" b="0" i="0">
                <a:solidFill>
                  <a:srgbClr val="3F4A56"/>
                </a:solidFill>
                <a:latin typeface="Arial"/>
                <a:ea typeface="Arial"/>
                <a:cs typeface="Arial"/>
              </a:rPr>
              <a:t>Indian language voice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931BC2C-DE99-4325-B4BB-72FF36A91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800350"/>
            <a:ext cx="6667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0878BE"/>
          </a:solidFill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652B70F-9149-42F4-826A-B800D77BB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000375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DOC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AD21AD4-2F9B-40E1-87F4-F27AD8685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5433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DOCKER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A42CE9A-DD46-4086-A9CA-08324441C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75285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24"/>
          </a:bodyPr>
          <a:lstStyle xmlns:a="http://schemas.openxmlformats.org/drawingml/2006/main"/>
          <a:p xmlns:a="http://schemas.openxmlformats.org/drawingml/2006/main">
            <a:pPr algn="ctr">
              <a:defRPr sz="788" b="0" i="0">
                <a:solidFill>
                  <a:srgbClr val="3F4A56"/>
                </a:solidFill>
                <a:latin typeface="Arial"/>
                <a:ea typeface="Arial"/>
                <a:cs typeface="Arial"/>
              </a:defRPr>
            </a:pPr>
            <a:r>
              <a:rPr sz="788" b="0" i="0">
                <a:solidFill>
                  <a:srgbClr val="3F4A56"/>
                </a:solidFill>
                <a:latin typeface="Arial"/>
                <a:ea typeface="Arial"/>
                <a:cs typeface="Arial"/>
              </a:rPr>
              <a:t>Portable deployment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0DF1622-7B5B-4E20-9671-BD12C18DE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05275"/>
            <a:ext cx="723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5D5A8E7-461A-4E06-B054-4F6350DBE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24815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524"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METHODOLOGY AND PROCESS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AC0B7BC-5024-44ED-B92A-2B8DEC7EB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8630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01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FF3CB24-18F0-48DB-8CA2-CB38B03B3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" y="4981575"/>
            <a:ext cx="1885950" cy="17526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FCE9DD"/>
          </a:solidFill>
          <a:ln xmlns:a="http://schemas.openxmlformats.org/drawingml/2006/main" w="0">
            <a:noFill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6160929-8554-42BB-AE47-719A2F2C6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181600"/>
            <a:ext cx="1409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CASE INTAKE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91312EA-6610-4748-9162-5D5EF838F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5657850"/>
            <a:ext cx="13906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9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9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Parse bill, policy and emergency context. Create one consented case.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7EECE15-AEF6-49B9-9952-1D3200000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68630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02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CA08D29-52A0-4A0E-83E7-DC378209F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325" y="4981575"/>
            <a:ext cx="1885950" cy="17526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FFD6B0"/>
          </a:solidFill>
          <a:ln xmlns:a="http://schemas.openxmlformats.org/drawingml/2006/main" w="0">
            <a:noFill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D6076B6-6E16-4814-BEEC-64AC0FFFD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181600"/>
            <a:ext cx="1409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12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ENTITLEMENT GRAPH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F5EBB5D-14DD-4ED3-B531-B93ED5580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5657850"/>
            <a:ext cx="13906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9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9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Map claim routes, schemes, limits, exclusions and deadlines.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5736823-71C3-43C6-8477-8499E7C88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68630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03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EAD41AE-9C34-4FB9-94F6-6EEECC5BE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4981575"/>
            <a:ext cx="1885950" cy="17526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FBBB72"/>
          </a:solidFill>
          <a:ln xmlns:a="http://schemas.openxmlformats.org/drawingml/2006/main" w="0">
            <a:noFill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4EDEB35-8A0F-4F9E-9CDF-06DA15823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5181600"/>
            <a:ext cx="1409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821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RECOVERY PLAN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0218EFE-83FE-434A-AB2C-5B341A516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5657850"/>
            <a:ext cx="13906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9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9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Build document packs. Calculate expected recovery and the funding gap.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997C9B7-302B-4239-9FCB-80AF83BE8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8630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04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5E215B5-4EB0-494C-8ACC-9E251176F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4981575"/>
            <a:ext cx="1885950" cy="17526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F9A94F"/>
          </a:solidFill>
          <a:ln xmlns:a="http://schemas.openxmlformats.org/drawingml/2006/main" w="0">
            <a:noFill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91D4F3D-D3A3-4103-BB0E-768FC4C2A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5181600"/>
            <a:ext cx="1409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12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ACTION AND TRACKING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1D85A1F-8720-4C2D-8E5F-59FF2C02F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5657850"/>
            <a:ext cx="13906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9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9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Request confirmation. Submit through adapters and track every status.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6D46AB6-3D14-42E4-B858-2B82883E3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97155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000"/>
          </a:bodyPr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WORKFLOW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6A9C092-04A4-4CC5-A4B9-50F3D51AB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438275"/>
            <a:ext cx="2190750" cy="36195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FF922B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2DE04B8-1771-4F12-BA72-D24E5D0FC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495425"/>
            <a:ext cx="2038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485"/>
          </a:bodyPr>
          <a:lstStyle xmlns:a="http://schemas.openxmlformats.org/drawingml/2006/main"/>
          <a:p xmlns:a="http://schemas.openxmlformats.org/drawingml/2006/main">
            <a:pPr algn="ctr">
              <a:defRPr sz="938" b="1" i="0">
                <a:solidFill>
                  <a:srgbClr val="002970"/>
                </a:solidFill>
                <a:latin typeface="Arial"/>
                <a:ea typeface="Arial"/>
                <a:cs typeface="Arial"/>
              </a:defRPr>
            </a:pPr>
            <a:r>
              <a:rPr sz="938" b="1" i="0">
                <a:solidFill>
                  <a:srgbClr val="002970"/>
                </a:solidFill>
                <a:latin typeface="Arial"/>
                <a:ea typeface="Arial"/>
                <a:cs typeface="Arial"/>
              </a:rPr>
              <a:t>START: User reports a hospitalization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5B4CD520-9B55-4046-9172-097F8330C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962150"/>
            <a:ext cx="3333750" cy="409575"/>
          </a:xfrm>
          <a:prstGeom xmlns:a="http://schemas.openxmlformats.org/drawingml/2006/main" prst="roundRect">
            <a:avLst>
              <a:gd name="adj" fmla="val 162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FF922B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7E9D85F0-A9D5-42CD-AEFF-21FEACF4B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019300"/>
            <a:ext cx="31813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02970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02970"/>
                </a:solidFill>
                <a:latin typeface="Arial"/>
                <a:ea typeface="Arial"/>
                <a:cs typeface="Arial"/>
              </a:rPr>
              <a:t>1. Capture voice or text, bill and policy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02916F48-007B-4419-BB3C-47CA53536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524125"/>
            <a:ext cx="3333750" cy="409575"/>
          </a:xfrm>
          <a:prstGeom xmlns:a="http://schemas.openxmlformats.org/drawingml/2006/main" prst="roundRect">
            <a:avLst>
              <a:gd name="adj" fmla="val 162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FF922B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003CA8C3-2A09-4030-B9A9-F61DD41CA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581275"/>
            <a:ext cx="31813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02970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02970"/>
                </a:solidFill>
                <a:latin typeface="Arial"/>
                <a:ea typeface="Arial"/>
                <a:cs typeface="Arial"/>
              </a:rPr>
              <a:t>2. Extract event facts and verify document fields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27323A3C-1527-439B-A169-3061C119D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086100"/>
            <a:ext cx="3333750" cy="409575"/>
          </a:xfrm>
          <a:prstGeom xmlns:a="http://schemas.openxmlformats.org/drawingml/2006/main" prst="roundRect">
            <a:avLst>
              <a:gd name="adj" fmla="val 162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FF922B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F257861E-017B-4532-B865-5A3B8919B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143250"/>
            <a:ext cx="31813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70" b="1" i="0">
                <a:solidFill>
                  <a:srgbClr val="002970"/>
                </a:solidFill>
                <a:latin typeface="Arial"/>
                <a:ea typeface="Arial"/>
                <a:cs typeface="Arial"/>
              </a:defRPr>
            </a:pPr>
            <a:r>
              <a:rPr sz="870" b="1" i="0">
                <a:solidFill>
                  <a:srgbClr val="002970"/>
                </a:solidFill>
                <a:latin typeface="Arial"/>
                <a:ea typeface="Arial"/>
                <a:cs typeface="Arial"/>
              </a:rPr>
              <a:t>3. Build Entitlement Graph from policy and scheme rules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EF2D2D27-40A1-4323-84F0-3C2E05980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657600"/>
            <a:ext cx="1476375" cy="7429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FF922B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6C862BB7-05D8-46D3-A97A-A01AFEC9C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3848100"/>
            <a:ext cx="952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558"/>
          </a:bodyPr>
          <a:lstStyle xmlns:a="http://schemas.openxmlformats.org/drawingml/2006/main"/>
          <a:p xmlns:a="http://schemas.openxmlformats.org/drawingml/2006/main">
            <a:pPr algn="ctr">
              <a:defRPr sz="788" b="1" i="0">
                <a:solidFill>
                  <a:srgbClr val="002970"/>
                </a:solidFill>
                <a:latin typeface="Arial"/>
                <a:ea typeface="Arial"/>
                <a:cs typeface="Arial"/>
              </a:defRPr>
            </a:pPr>
            <a:r>
              <a:rPr sz="788" b="1" i="0">
                <a:solidFill>
                  <a:srgbClr val="002970"/>
                </a:solidFill>
                <a:latin typeface="Arial"/>
                <a:ea typeface="Arial"/>
                <a:cs typeface="Arial"/>
              </a:rPr>
              <a:t>COVERAGE OR</a:t>
            </a:r>
          </a:p>
          <a:p xmlns:a="http://schemas.openxmlformats.org/drawingml/2006/main">
            <a:pPr algn="ctr">
              <a:defRPr sz="788" b="1" i="0">
                <a:solidFill>
                  <a:srgbClr val="002970"/>
                </a:solidFill>
                <a:latin typeface="Arial"/>
                <a:ea typeface="Arial"/>
                <a:cs typeface="Arial"/>
              </a:defRPr>
            </a:pPr>
            <a:r>
              <a:rPr sz="788" b="1" i="0">
                <a:solidFill>
                  <a:srgbClr val="002970"/>
                </a:solidFill>
                <a:latin typeface="Arial"/>
                <a:ea typeface="Arial"/>
                <a:cs typeface="Arial"/>
              </a:rPr>
              <a:t>BENEFIT FOUND?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54826962-4AE6-4757-9A9D-02CB1F87D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581525"/>
            <a:ext cx="3333750" cy="409575"/>
          </a:xfrm>
          <a:prstGeom xmlns:a="http://schemas.openxmlformats.org/drawingml/2006/main" prst="roundRect">
            <a:avLst>
              <a:gd name="adj" fmla="val 162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FF922B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E52989D6-DFA0-475C-B97B-59BD6175D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638675"/>
            <a:ext cx="31813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02970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02970"/>
                </a:solidFill>
                <a:latin typeface="Arial"/>
                <a:ea typeface="Arial"/>
                <a:cs typeface="Arial"/>
              </a:rPr>
              <a:t>4. Generate claim and benefit document packs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001D91A5-08DD-4B8A-A6C3-A94DDC827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143500"/>
            <a:ext cx="3333750" cy="409575"/>
          </a:xfrm>
          <a:prstGeom xmlns:a="http://schemas.openxmlformats.org/drawingml/2006/main" prst="roundRect">
            <a:avLst>
              <a:gd name="adj" fmla="val 162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FF922B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E85424D9-A143-4E69-943C-FFE6D0AEA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5200650"/>
            <a:ext cx="31813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85" b="1" i="0">
                <a:solidFill>
                  <a:srgbClr val="002970"/>
                </a:solidFill>
                <a:latin typeface="Arial"/>
                <a:ea typeface="Arial"/>
                <a:cs typeface="Arial"/>
              </a:defRPr>
            </a:pPr>
            <a:r>
              <a:rPr sz="885" b="1" i="0">
                <a:solidFill>
                  <a:srgbClr val="002970"/>
                </a:solidFill>
                <a:latin typeface="Arial"/>
                <a:ea typeface="Arial"/>
                <a:cs typeface="Arial"/>
              </a:rPr>
              <a:t>5. Calculate payable amount minus expected recovery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BCF75F56-C926-460D-953C-C4DD5A152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5715000"/>
            <a:ext cx="1476375" cy="7429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FF922B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8120C91C-E127-41C7-AF8F-BBC9F5A23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5905500"/>
            <a:ext cx="95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499"/>
          </a:bodyPr>
          <a:lstStyle xmlns:a="http://schemas.openxmlformats.org/drawingml/2006/main"/>
          <a:p xmlns:a="http://schemas.openxmlformats.org/drawingml/2006/main">
            <a:pPr algn="ctr">
              <a:defRPr sz="788" b="1" i="0">
                <a:solidFill>
                  <a:srgbClr val="002970"/>
                </a:solidFill>
                <a:latin typeface="Arial"/>
                <a:ea typeface="Arial"/>
                <a:cs typeface="Arial"/>
              </a:defRPr>
            </a:pPr>
            <a:r>
              <a:rPr sz="788" b="1" i="0">
                <a:solidFill>
                  <a:srgbClr val="002970"/>
                </a:solidFill>
                <a:latin typeface="Arial"/>
                <a:ea typeface="Arial"/>
                <a:cs typeface="Arial"/>
              </a:rPr>
              <a:t>USER CONFIRMS</a:t>
            </a:r>
          </a:p>
          <a:p xmlns:a="http://schemas.openxmlformats.org/drawingml/2006/main">
            <a:pPr algn="ctr">
              <a:defRPr sz="788" b="1" i="0">
                <a:solidFill>
                  <a:srgbClr val="002970"/>
                </a:solidFill>
                <a:latin typeface="Arial"/>
                <a:ea typeface="Arial"/>
                <a:cs typeface="Arial"/>
              </a:defRPr>
            </a:pPr>
            <a:r>
              <a:rPr sz="788" b="1" i="0">
                <a:solidFill>
                  <a:srgbClr val="002970"/>
                </a:solidFill>
                <a:latin typeface="Arial"/>
                <a:ea typeface="Arial"/>
                <a:cs typeface="Arial"/>
              </a:rPr>
              <a:t>NEXT ACTION?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98C2F86E-DFB1-4621-A7BB-17C022D31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6629400"/>
            <a:ext cx="3333750" cy="409575"/>
          </a:xfrm>
          <a:prstGeom xmlns:a="http://schemas.openxmlformats.org/drawingml/2006/main" prst="roundRect">
            <a:avLst>
              <a:gd name="adj" fmla="val 162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FF922B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9363EEC9-BD1B-421F-A197-51E54581D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6686550"/>
            <a:ext cx="31813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85" b="1" i="0">
                <a:solidFill>
                  <a:srgbClr val="002970"/>
                </a:solidFill>
                <a:latin typeface="Arial"/>
                <a:ea typeface="Arial"/>
                <a:cs typeface="Arial"/>
              </a:defRPr>
            </a:pPr>
            <a:r>
              <a:rPr sz="885" b="1" i="0">
                <a:solidFill>
                  <a:srgbClr val="002970"/>
                </a:solidFill>
                <a:latin typeface="Arial"/>
                <a:ea typeface="Arial"/>
                <a:cs typeface="Arial"/>
              </a:rPr>
              <a:t>6. Submit through adapters and track the case</a:t>
            </a:r>
          </a:p>
        </p:txBody>
      </p:sp>
      <p:cxnSp>
        <p:nvCxnSpPr>
          <p:cNvPr id="178" name=""/>
          <p:cNvCxnSpPr>
            <a:stCxn xmlns:a="http://schemas.openxmlformats.org/drawingml/2006/main" id="60" idx="2"/>
            <a:endCxn xmlns:a="http://schemas.openxmlformats.org/drawingml/2006/main" id="62" idx="0"/>
          </p:cNvCxnSpPr>
          <p:nvPr/>
        </p:nvCxnSpPr>
        <p:spPr>
          <a:xfrm xmlns:a="http://schemas.openxmlformats.org/drawingml/2006/main">
            <a:off x="9934575" y="1800225"/>
            <a:ext cx="190500" cy="1619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5240">
            <a:solidFill>
              <a:srgbClr val="FF922B"/>
            </a:solidFill>
            <a:prstDash val="solid"/>
            <a:tailEnd type="triangle" w="sm" len="sm"/>
          </a:ln>
        </p:spPr>
      </p:cxnSp>
      <p:cxnSp>
        <p:nvCxnSpPr>
          <p:cNvPr id="179" name=""/>
          <p:cNvCxnSpPr>
            <a:stCxn xmlns:a="http://schemas.openxmlformats.org/drawingml/2006/main" id="62" idx="2"/>
            <a:endCxn xmlns:a="http://schemas.openxmlformats.org/drawingml/2006/main" id="64" idx="0"/>
          </p:cNvCxnSpPr>
          <p:nvPr/>
        </p:nvCxnSpPr>
        <p:spPr>
          <a:xfrm xmlns:a="http://schemas.openxmlformats.org/drawingml/2006/main">
            <a:off x="10125075" y="2371725"/>
            <a:ext cx="0" cy="15240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FF922B"/>
            </a:solidFill>
            <a:prstDash val="solid"/>
            <a:tailEnd type="triangle" w="sm" len="sm"/>
          </a:ln>
        </p:spPr>
      </p:cxnSp>
      <p:cxnSp>
        <p:nvCxnSpPr>
          <p:cNvPr id="180" name=""/>
          <p:cNvCxnSpPr>
            <a:stCxn xmlns:a="http://schemas.openxmlformats.org/drawingml/2006/main" id="64" idx="2"/>
            <a:endCxn xmlns:a="http://schemas.openxmlformats.org/drawingml/2006/main" id="66" idx="0"/>
          </p:cNvCxnSpPr>
          <p:nvPr/>
        </p:nvCxnSpPr>
        <p:spPr>
          <a:xfrm xmlns:a="http://schemas.openxmlformats.org/drawingml/2006/main">
            <a:off x="10125075" y="2933700"/>
            <a:ext cx="0" cy="15240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FF922B"/>
            </a:solidFill>
            <a:prstDash val="solid"/>
            <a:tailEnd type="triangle" w="sm" len="sm"/>
          </a:ln>
        </p:spPr>
      </p:cxnSp>
      <p:cxnSp>
        <p:nvCxnSpPr>
          <p:cNvPr id="181" name=""/>
          <p:cNvCxnSpPr>
            <a:stCxn xmlns:a="http://schemas.openxmlformats.org/drawingml/2006/main" id="66" idx="2"/>
            <a:endCxn xmlns:a="http://schemas.openxmlformats.org/drawingml/2006/main" id="68" idx="0"/>
          </p:cNvCxnSpPr>
          <p:nvPr/>
        </p:nvCxnSpPr>
        <p:spPr>
          <a:xfrm xmlns:a="http://schemas.openxmlformats.org/drawingml/2006/main">
            <a:off x="10125075" y="3495675"/>
            <a:ext cx="4763" cy="1619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5240">
            <a:solidFill>
              <a:srgbClr val="FF922B"/>
            </a:solidFill>
            <a:prstDash val="solid"/>
            <a:tailEnd type="triangle" w="sm" len="sm"/>
          </a:ln>
        </p:spPr>
      </p:cxnSp>
      <p:cxnSp>
        <p:nvCxnSpPr>
          <p:cNvPr id="182" name=""/>
          <p:cNvCxnSpPr>
            <a:stCxn xmlns:a="http://schemas.openxmlformats.org/drawingml/2006/main" id="68" idx="2"/>
            <a:endCxn xmlns:a="http://schemas.openxmlformats.org/drawingml/2006/main" id="70" idx="0"/>
          </p:cNvCxnSpPr>
          <p:nvPr/>
        </p:nvCxnSpPr>
        <p:spPr>
          <a:xfrm xmlns:a="http://schemas.openxmlformats.org/drawingml/2006/main" flipH="1">
            <a:off x="10125075" y="4400550"/>
            <a:ext cx="4763" cy="1809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5240">
            <a:solidFill>
              <a:srgbClr val="FF922B"/>
            </a:solidFill>
            <a:prstDash val="solid"/>
            <a:tailEnd type="triangle" w="sm" len="sm"/>
          </a:ln>
        </p:spPr>
      </p:cxnSp>
      <p:cxnSp>
        <p:nvCxnSpPr>
          <p:cNvPr id="183" name=""/>
          <p:cNvCxnSpPr>
            <a:stCxn xmlns:a="http://schemas.openxmlformats.org/drawingml/2006/main" id="70" idx="2"/>
            <a:endCxn xmlns:a="http://schemas.openxmlformats.org/drawingml/2006/main" id="72" idx="0"/>
          </p:cNvCxnSpPr>
          <p:nvPr/>
        </p:nvCxnSpPr>
        <p:spPr>
          <a:xfrm xmlns:a="http://schemas.openxmlformats.org/drawingml/2006/main">
            <a:off x="10125075" y="4991100"/>
            <a:ext cx="0" cy="15240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FF922B"/>
            </a:solidFill>
            <a:prstDash val="solid"/>
            <a:tailEnd type="triangle" w="sm" len="sm"/>
          </a:ln>
        </p:spPr>
      </p:cxnSp>
      <p:cxnSp>
        <p:nvCxnSpPr>
          <p:cNvPr id="184" name=""/>
          <p:cNvCxnSpPr>
            <a:stCxn xmlns:a="http://schemas.openxmlformats.org/drawingml/2006/main" id="72" idx="2"/>
            <a:endCxn xmlns:a="http://schemas.openxmlformats.org/drawingml/2006/main" id="74" idx="0"/>
          </p:cNvCxnSpPr>
          <p:nvPr/>
        </p:nvCxnSpPr>
        <p:spPr>
          <a:xfrm xmlns:a="http://schemas.openxmlformats.org/drawingml/2006/main">
            <a:off x="10125075" y="5553075"/>
            <a:ext cx="4763" cy="1619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5240">
            <a:solidFill>
              <a:srgbClr val="FF922B"/>
            </a:solidFill>
            <a:prstDash val="solid"/>
            <a:tailEnd type="triangle" w="sm" len="sm"/>
          </a:ln>
        </p:spPr>
      </p:cxnSp>
      <p:cxnSp>
        <p:nvCxnSpPr>
          <p:cNvPr id="185" name=""/>
          <p:cNvCxnSpPr>
            <a:stCxn xmlns:a="http://schemas.openxmlformats.org/drawingml/2006/main" id="74" idx="2"/>
            <a:endCxn xmlns:a="http://schemas.openxmlformats.org/drawingml/2006/main" id="76" idx="0"/>
          </p:cNvCxnSpPr>
          <p:nvPr/>
        </p:nvCxnSpPr>
        <p:spPr>
          <a:xfrm xmlns:a="http://schemas.openxmlformats.org/drawingml/2006/main" flipH="1">
            <a:off x="10125075" y="6457950"/>
            <a:ext cx="4763" cy="1714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5240">
            <a:solidFill>
              <a:srgbClr val="FF922B"/>
            </a:solidFill>
            <a:prstDash val="solid"/>
            <a:tailEnd type="triangle" w="sm" len="sm"/>
          </a:ln>
        </p:spPr>
      </p:cxn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4FBBE8C5-3E77-4175-A61D-023C63036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3724275"/>
            <a:ext cx="1619250" cy="571500"/>
          </a:xfrm>
          <a:prstGeom xmlns:a="http://schemas.openxmlformats.org/drawingml/2006/main" prst="roundRect">
            <a:avLst>
              <a:gd name="adj" fmla="val 11667"/>
            </a:avLst>
          </a:prstGeom>
          <a:solidFill xmlns:a="http://schemas.openxmlformats.org/drawingml/2006/main">
            <a:srgbClr val="FFDADA"/>
          </a:solidFill>
          <a:ln xmlns:a="http://schemas.openxmlformats.org/drawingml/2006/main" w="13335">
            <a:solidFill>
              <a:srgbClr val="EE402F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D59D2089-4BCB-4D8F-979B-447B62C70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3781425"/>
            <a:ext cx="1466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8" b="1" i="0">
                <a:solidFill>
                  <a:srgbClr val="002970"/>
                </a:solidFill>
                <a:latin typeface="Arial"/>
                <a:ea typeface="Arial"/>
                <a:cs typeface="Arial"/>
              </a:defRPr>
            </a:pPr>
            <a:r>
              <a:rPr sz="788" b="1" i="0">
                <a:solidFill>
                  <a:srgbClr val="002970"/>
                </a:solidFill>
                <a:latin typeface="Arial"/>
                <a:ea typeface="Arial"/>
                <a:cs typeface="Arial"/>
              </a:rPr>
              <a:t>Show missing proof or alternate route</a:t>
            </a:r>
          </a:p>
        </p:txBody>
      </p:sp>
      <p:cxnSp>
        <p:nvCxnSpPr>
          <p:cNvPr id="188" name=""/>
          <p:cNvCxnSpPr>
            <a:stCxn xmlns:a="http://schemas.openxmlformats.org/drawingml/2006/main" id="68" idx="3"/>
            <a:endCxn xmlns:a="http://schemas.openxmlformats.org/drawingml/2006/main" id="86" idx="1"/>
          </p:cNvCxnSpPr>
          <p:nvPr/>
        </p:nvCxnSpPr>
        <p:spPr>
          <a:xfrm xmlns:a="http://schemas.openxmlformats.org/drawingml/2006/main" flipV="1">
            <a:off x="10868025" y="4010025"/>
            <a:ext cx="942975" cy="190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5240">
            <a:solidFill>
              <a:srgbClr val="EE402F"/>
            </a:solidFill>
            <a:prstDash val="solid"/>
            <a:tailEnd type="triangle" w="sm" len="sm"/>
          </a:ln>
        </p:spPr>
      </p:cxnSp>
      <p:cxnSp>
        <p:nvCxnSpPr>
          <p:cNvPr id="189" name=""/>
          <p:cNvCxnSpPr>
            <a:stCxn xmlns:a="http://schemas.openxmlformats.org/drawingml/2006/main" id="86" idx="0"/>
            <a:endCxn xmlns:a="http://schemas.openxmlformats.org/drawingml/2006/main" id="64" idx="3"/>
          </p:cNvCxnSpPr>
          <p:nvPr/>
        </p:nvCxnSpPr>
        <p:spPr>
          <a:xfrm xmlns:a="http://schemas.openxmlformats.org/drawingml/2006/main" flipH="1" flipV="1">
            <a:off x="11791950" y="2728913"/>
            <a:ext cx="828675" cy="995363"/>
          </a:xfrm>
          <a:prstGeom xmlns:a="http://schemas.openxmlformats.org/drawingml/2006/main" prst="bentConnector5">
            <a:avLst>
              <a:gd name="adj1" fmla="val 0"/>
              <a:gd name="adj2" fmla="val 22967"/>
              <a:gd name="adj3" fmla="val 72414"/>
            </a:avLst>
          </a:prstGeom>
          <a:ln xmlns:a="http://schemas.openxmlformats.org/drawingml/2006/main" w="15240">
            <a:solidFill>
              <a:srgbClr val="EE402F"/>
            </a:solidFill>
            <a:prstDash val="solid"/>
            <a:tailEnd type="triangle" w="sm" len="sm"/>
          </a:ln>
        </p:spPr>
      </p:cxn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341D638B-E6BF-4920-9C58-13F357316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38290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EE402F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EE402F"/>
                </a:solidFill>
                <a:latin typeface="Arial"/>
                <a:ea typeface="Arial"/>
                <a:cs typeface="Arial"/>
              </a:rPr>
              <a:t>NO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A942AF29-0879-405D-859C-9B08CCC82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40055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761"/>
          </a:bodyPr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159947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159947"/>
                </a:solidFill>
                <a:latin typeface="Arial"/>
                <a:ea typeface="Arial"/>
                <a:cs typeface="Arial"/>
              </a:rPr>
              <a:t>YES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E1801D4D-461E-4E6B-8E26-184928E3D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5791200"/>
            <a:ext cx="1619250" cy="533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DADA"/>
          </a:solidFill>
          <a:ln xmlns:a="http://schemas.openxmlformats.org/drawingml/2006/main" w="13335">
            <a:solidFill>
              <a:srgbClr val="EE402F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F123B163-6C4A-40DA-A635-E486D258A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5848350"/>
            <a:ext cx="1466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8" b="1" i="0">
                <a:solidFill>
                  <a:srgbClr val="002970"/>
                </a:solidFill>
                <a:latin typeface="Arial"/>
                <a:ea typeface="Arial"/>
                <a:cs typeface="Arial"/>
              </a:defRPr>
            </a:pPr>
            <a:r>
              <a:rPr sz="788" b="1" i="0">
                <a:solidFill>
                  <a:srgbClr val="002970"/>
                </a:solidFill>
                <a:latin typeface="Arial"/>
                <a:ea typeface="Arial"/>
                <a:cs typeface="Arial"/>
              </a:rPr>
              <a:t>Revise plan or save for later</a:t>
            </a:r>
          </a:p>
        </p:txBody>
      </p:sp>
      <p:cxnSp>
        <p:nvCxnSpPr>
          <p:cNvPr id="194" name=""/>
          <p:cNvCxnSpPr>
            <a:stCxn xmlns:a="http://schemas.openxmlformats.org/drawingml/2006/main" id="74" idx="3"/>
            <a:endCxn xmlns:a="http://schemas.openxmlformats.org/drawingml/2006/main" id="92" idx="1"/>
          </p:cNvCxnSpPr>
          <p:nvPr/>
        </p:nvCxnSpPr>
        <p:spPr>
          <a:xfrm xmlns:a="http://schemas.openxmlformats.org/drawingml/2006/main" flipV="1">
            <a:off x="10868025" y="6057900"/>
            <a:ext cx="942975" cy="285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5240">
            <a:solidFill>
              <a:srgbClr val="EE402F"/>
            </a:solidFill>
            <a:prstDash val="solid"/>
            <a:tailEnd type="triangle" w="sm" len="sm"/>
          </a:ln>
        </p:spPr>
      </p:cxnSp>
      <p:cxnSp>
        <p:nvCxnSpPr>
          <p:cNvPr id="195" name=""/>
          <p:cNvCxnSpPr>
            <a:stCxn xmlns:a="http://schemas.openxmlformats.org/drawingml/2006/main" id="92" idx="0"/>
            <a:endCxn xmlns:a="http://schemas.openxmlformats.org/drawingml/2006/main" id="72" idx="3"/>
          </p:cNvCxnSpPr>
          <p:nvPr/>
        </p:nvCxnSpPr>
        <p:spPr>
          <a:xfrm xmlns:a="http://schemas.openxmlformats.org/drawingml/2006/main" flipH="1" flipV="1">
            <a:off x="11791950" y="5348288"/>
            <a:ext cx="828675" cy="442913"/>
          </a:xfrm>
          <a:prstGeom xmlns:a="http://schemas.openxmlformats.org/drawingml/2006/main" prst="bentConnector5">
            <a:avLst>
              <a:gd name="adj1" fmla="val 0"/>
              <a:gd name="adj2" fmla="val 51613"/>
              <a:gd name="adj3" fmla="val 72414"/>
            </a:avLst>
          </a:prstGeom>
          <a:ln xmlns:a="http://schemas.openxmlformats.org/drawingml/2006/main" w="15240">
            <a:solidFill>
              <a:srgbClr val="EE402F"/>
            </a:solidFill>
            <a:prstDash val="solid"/>
            <a:tailEnd type="triangle" w="sm" len="sm"/>
          </a:ln>
        </p:spPr>
      </p:cxn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E25DF257-DFB3-4545-8C46-F2D80945B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590550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EE402F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EE402F"/>
                </a:solidFill>
                <a:latin typeface="Arial"/>
                <a:ea typeface="Arial"/>
                <a:cs typeface="Arial"/>
              </a:rPr>
              <a:t>NO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9FEA712B-FEB4-4193-AB50-84790D3E1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67475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761"/>
          </a:bodyPr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159947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159947"/>
                </a:solidFill>
                <a:latin typeface="Arial"/>
                <a:ea typeface="Arial"/>
                <a:cs typeface="Arial"/>
              </a:rPr>
              <a:t>YES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FE4C4F80-CE2A-40A3-B73E-15B85E0E2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239000"/>
            <a:ext cx="1371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8BE"/>
          </a:solidFill>
          <a:ln xmlns:a="http://schemas.openxmlformats.org/drawingml/2006/main" w="0">
            <a:noFill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20271DC6-250B-423A-95A3-15BA39A4D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736282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556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PAYTM BUILD FOR INDIA AI HACKATHON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98AF2D6F-AF11-4E65-84A8-4841D7F3C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77800" y="73533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39885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EE5354-EA94-490F-90B5-9A5B89BD7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71450"/>
            <a:ext cx="590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298"/>
          </a:bodyPr>
          <a:lstStyle xmlns:a="http://schemas.openxmlformats.org/drawingml/2006/main"/>
          <a:p xmlns:a="http://schemas.openxmlformats.org/drawingml/2006/main">
            <a:pPr algn="ctr">
              <a:defRPr sz="25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D7FF1B-AC6C-4E75-8F1F-1E6C1C799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28650"/>
            <a:ext cx="704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638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FINANCIAL</a:t>
            </a:r>
          </a:p>
          <a:p xmlns:a="http://schemas.openxmlformats.org/drawingml/2006/main">
            <a:pPr algn="ctr">
              <a:defRPr sz="638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638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LIFELINE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DD5136-0567-4D91-9F1F-6B3BC72F5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600" y="171450"/>
            <a:ext cx="671703" cy="2621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84" b="1" i="0">
                <a:solidFill>
                  <a:srgbClr val="00B9F1"/>
                </a:solidFill>
                <a:latin typeface="Arial"/>
                <a:ea typeface="Arial"/>
                <a:cs typeface="Arial"/>
              </a:defRPr>
            </a:pPr>
            <a:r>
              <a:rPr sz="1484" b="1" i="0">
                <a:solidFill>
                  <a:srgbClr val="00B9F1"/>
                </a:solidFill>
                <a:latin typeface="Arial"/>
                <a:ea typeface="Arial"/>
                <a:cs typeface="Arial"/>
              </a:rPr>
              <a:t>pay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C22A2D-9784-4844-A558-97A086F5C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06516" y="171450"/>
            <a:ext cx="557022" cy="2621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84" b="1" i="0">
                <a:solidFill>
                  <a:srgbClr val="002970"/>
                </a:solidFill>
                <a:latin typeface="Arial"/>
                <a:ea typeface="Arial"/>
                <a:cs typeface="Arial"/>
              </a:defRPr>
            </a:pPr>
            <a:r>
              <a:rPr sz="1484" b="1" i="0">
                <a:solidFill>
                  <a:srgbClr val="002970"/>
                </a:solidFill>
                <a:latin typeface="Arial"/>
                <a:ea typeface="Arial"/>
                <a:cs typeface="Arial"/>
              </a:rPr>
              <a:t>tm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ECD307-1413-4AAC-B6BE-E43CDAF74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485775"/>
            <a:ext cx="1428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1" i="0">
                <a:solidFill>
                  <a:srgbClr val="3F4A56"/>
                </a:solidFill>
                <a:latin typeface="Arial"/>
                <a:ea typeface="Arial"/>
                <a:cs typeface="Arial"/>
              </a:defRPr>
            </a:pPr>
            <a:r>
              <a:rPr sz="713" b="1" i="0">
                <a:solidFill>
                  <a:srgbClr val="3F4A56"/>
                </a:solidFill>
                <a:latin typeface="Arial"/>
                <a:ea typeface="Arial"/>
                <a:cs typeface="Arial"/>
              </a:rPr>
              <a:t>BUILD FOR INDIA</a:t>
            </a:r>
          </a:p>
          <a:p xmlns:a="http://schemas.openxmlformats.org/drawingml/2006/main">
            <a:pPr algn="ctr">
              <a:defRPr sz="713" b="1" i="0">
                <a:solidFill>
                  <a:srgbClr val="3F4A56"/>
                </a:solidFill>
                <a:latin typeface="Arial"/>
                <a:ea typeface="Arial"/>
                <a:cs typeface="Arial"/>
              </a:defRPr>
            </a:pPr>
            <a:r>
              <a:rPr sz="713" b="1" i="0">
                <a:solidFill>
                  <a:srgbClr val="3F4A56"/>
                </a:solidFill>
                <a:latin typeface="Arial"/>
                <a:ea typeface="Arial"/>
                <a:cs typeface="Arial"/>
              </a:rPr>
              <a:t>AI HACKATHON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FC30F9-F638-41F0-A5AB-5E56D9A2D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33350"/>
            <a:ext cx="10953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52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52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FEASIBILITY AND VIABILITY</a:t>
            </a:r>
          </a:p>
        </p:txBody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400050" y="1295400"/>
          <a:ext xmlns:a="http://schemas.openxmlformats.org/drawingml/2006/main" cx="12915900" cy="2667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81275"/>
                <a:gridCol w="2581275"/>
                <a:gridCol w="2581275"/>
                <a:gridCol w="2581275"/>
                <a:gridCol w="2590800"/>
              </a:tblGrid>
              <a:tr h="133350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TECHNICAL</a:t>
                      </a:r>
                    </a:p>
                    <a:p>
                      <a:r>
                        <a:rPr sz="135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FEASIBILITY</a:t>
                      </a:r>
                    </a:p>
                  </a:txBody>
                  <a:tcPr marL="142875" marR="142875" marT="133350" marB="114300" anchor="ctr">
                    <a:solidFill>
                      <a:srgbClr val="D9E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DATA</a:t>
                      </a:r>
                    </a:p>
                    <a:p>
                      <a:r>
                        <a:rPr sz="135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FEASIBILITY</a:t>
                      </a:r>
                    </a:p>
                  </a:txBody>
                  <a:tcPr marL="142875" marR="142875" marT="133350" marB="114300" anchor="ctr">
                    <a:solidFill>
                      <a:srgbClr val="D9E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ECONOMIC</a:t>
                      </a:r>
                    </a:p>
                    <a:p>
                      <a:r>
                        <a:rPr sz="135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FEASIBILITY</a:t>
                      </a:r>
                    </a:p>
                  </a:txBody>
                  <a:tcPr marL="142875" marR="142875" marT="133350" marB="114300" anchor="ctr">
                    <a:solidFill>
                      <a:srgbClr val="D9E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LEGAL AND</a:t>
                      </a:r>
                    </a:p>
                    <a:p>
                      <a:r>
                        <a:rPr sz="135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COMPLIANCE</a:t>
                      </a:r>
                    </a:p>
                  </a:txBody>
                  <a:tcPr marL="142875" marR="142875" marT="133350" marB="114300" anchor="ctr">
                    <a:solidFill>
                      <a:srgbClr val="D9E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OPERATIONAL</a:t>
                      </a:r>
                    </a:p>
                    <a:p>
                      <a:r>
                        <a:rPr sz="135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FEASIBILITY</a:t>
                      </a:r>
                    </a:p>
                  </a:txBody>
                  <a:tcPr marL="142875" marR="142875" marT="133350" marB="114300" anchor="ctr">
                    <a:solidFill>
                      <a:srgbClr val="D9E9FB"/>
                    </a:solidFill>
                  </a:tcPr>
                </a:tc>
              </a:tr>
              <a:tr h="1333500">
                <a:tc>
                  <a:txBody>
                    <a:bodyPr/>
                    <a:lstStyle/>
                    <a:p>
                      <a:r>
                        <a:rPr sz="114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Open stack with Next.js, FastAPI, PostgreSQL and a deterministic policy engine. The MVP can run with mock adapters and synthetic cases.</a:t>
                      </a:r>
                    </a:p>
                  </a:txBody>
                  <a:tcPr marL="142875" marR="142875" marT="142875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4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Bills and policy documents enter through upload. DigiLocker and Account Aggregator become consent based production connectors.</a:t>
                      </a:r>
                    </a:p>
                  </a:txBody>
                  <a:tcPr marL="142875" marR="142875" marT="142875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4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The solution reuses Paytm distribution and partner rails. The MVP needs no proprietary data or paid hardware.</a:t>
                      </a:r>
                    </a:p>
                  </a:txBody>
                  <a:tcPr marL="142875" marR="142875" marT="142875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4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DPDP compliant consent receipts, data minimisation and deletion controls. Regulated entities retain every claim and credit decision.</a:t>
                      </a:r>
                    </a:p>
                  </a:txBody>
                  <a:tcPr marL="142875" marR="142875" marT="142875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4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One case timeline reduces repeated uploads and status checks. Human review handles uncertain coverage, complaints and exceptions.</a:t>
                      </a:r>
                    </a:p>
                  </a:txBody>
                  <a:tcPr marL="142875" marR="142875" marT="142875" marB="1143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" name=""/>
          <p:cNvGraphicFramePr/>
          <p:nvPr/>
        </p:nvGraphicFramePr>
        <p:xfrm>
          <a:off xmlns:a="http://schemas.openxmlformats.org/drawingml/2006/main" x="266700" y="4095750"/>
          <a:ext xmlns:a="http://schemas.openxmlformats.org/drawingml/2006/main" cx="13182600" cy="3028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591300"/>
                <a:gridCol w="6591300"/>
              </a:tblGrid>
              <a:tr h="60579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POTENTIAL CHALLENGES AND RISKS</a:t>
                      </a:r>
                    </a:p>
                  </a:txBody>
                  <a:tcPr marL="95250" marR="95250" marT="85725" marB="76200" anchor="ctr">
                    <a:solidFill>
                      <a:srgbClr val="FFDA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STRATEGIES FOR OVERCOMING</a:t>
                      </a:r>
                    </a:p>
                  </a:txBody>
                  <a:tcPr marL="95250" marR="95250" marT="85725" marB="76200" anchor="ctr">
                    <a:solidFill>
                      <a:srgbClr val="DDF7E8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r>
                        <a:rPr sz="1065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Fragmented policy wording and partner APIs can produce incomplete case data.</a:t>
                      </a:r>
                    </a:p>
                  </a:txBody>
                  <a:tcPr marL="152400" marR="1524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65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Use versioned policy rules, confidence thresholds and an adapter contract. Route uncertain cases to human review.</a:t>
                      </a:r>
                    </a:p>
                  </a:txBody>
                  <a:tcPr marL="152400" marR="152400" marT="95250" marB="76200" anchor="ctr">
                    <a:solidFill>
                      <a:srgbClr val="FFFFFF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r>
                        <a:rPr sz="1065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Eligibility errors could create false hope or incorrect claim expectations.</a:t>
                      </a:r>
                    </a:p>
                  </a:txBody>
                  <a:tcPr marL="152400" marR="1524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65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Calculate through deterministic rules with source evidence. Label expected amounts as estimates until the institution confirms them.</a:t>
                      </a:r>
                    </a:p>
                  </a:txBody>
                  <a:tcPr marL="152400" marR="152400" marT="95250" marB="76200" anchor="ctr">
                    <a:solidFill>
                      <a:srgbClr val="FFFFFF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r>
                        <a:rPr sz="1065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Medical and financial records require strict purpose control and user consent.</a:t>
                      </a:r>
                    </a:p>
                  </a:txBody>
                  <a:tcPr marL="152400" marR="1524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65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Use itemised consent, short lived access tokens, encrypted storage, revocation and complete audit logs.</a:t>
                      </a:r>
                    </a:p>
                  </a:txBody>
                  <a:tcPr marL="152400" marR="152400" marT="95250" marB="76200" anchor="ctr">
                    <a:solidFill>
                      <a:srgbClr val="FFFFFF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r>
                        <a:rPr sz="1065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Fast credit after a crisis can push vulnerable users toward unsuitable debt.</a:t>
                      </a:r>
                    </a:p>
                  </a:txBody>
                  <a:tcPr marL="152400" marR="1524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65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Enforce claim and benefit recovery first. Show KFS, APR, tenor and repayment impact before the user accepts any offer.</a:t>
                      </a:r>
                    </a:p>
                  </a:txBody>
                  <a:tcPr marL="152400" marR="152400" marT="95250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12C806-FF91-4129-8F57-CE5453434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239000"/>
            <a:ext cx="1371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8BE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517C93-910F-45DD-B2D0-FEB48A5E6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736282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556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PAYTM BUILD FOR INDIA AI HACKATHON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7FDABC-7B12-4A59-A0EA-3463BE813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77800" y="73533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2981218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B90492A7-DC78-4D54-A7EF-066F59D1F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71450"/>
            <a:ext cx="590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298"/>
          </a:bodyPr>
          <a:lstStyle xmlns:a="http://schemas.openxmlformats.org/drawingml/2006/main"/>
          <a:p xmlns:a="http://schemas.openxmlformats.org/drawingml/2006/main">
            <a:pPr algn="ctr">
              <a:defRPr sz="25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F4452F-B33B-4F0E-8814-C568439E2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28650"/>
            <a:ext cx="704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638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FINANCIAL</a:t>
            </a:r>
          </a:p>
          <a:p xmlns:a="http://schemas.openxmlformats.org/drawingml/2006/main">
            <a:pPr algn="ctr">
              <a:defRPr sz="638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638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LIFELINE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24D615-3E5A-48FD-A174-2DBEEDFA0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600" y="171450"/>
            <a:ext cx="671703" cy="2621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84" b="1" i="0">
                <a:solidFill>
                  <a:srgbClr val="00B9F1"/>
                </a:solidFill>
                <a:latin typeface="Arial"/>
                <a:ea typeface="Arial"/>
                <a:cs typeface="Arial"/>
              </a:defRPr>
            </a:pPr>
            <a:r>
              <a:rPr sz="1484" b="1" i="0">
                <a:solidFill>
                  <a:srgbClr val="00B9F1"/>
                </a:solidFill>
                <a:latin typeface="Arial"/>
                <a:ea typeface="Arial"/>
                <a:cs typeface="Arial"/>
              </a:rPr>
              <a:t>pay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88DC7D-2C83-4DAA-B19A-7B55E2B3F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06516" y="171450"/>
            <a:ext cx="557022" cy="2621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84" b="1" i="0">
                <a:solidFill>
                  <a:srgbClr val="002970"/>
                </a:solidFill>
                <a:latin typeface="Arial"/>
                <a:ea typeface="Arial"/>
                <a:cs typeface="Arial"/>
              </a:defRPr>
            </a:pPr>
            <a:r>
              <a:rPr sz="1484" b="1" i="0">
                <a:solidFill>
                  <a:srgbClr val="002970"/>
                </a:solidFill>
                <a:latin typeface="Arial"/>
                <a:ea typeface="Arial"/>
                <a:cs typeface="Arial"/>
              </a:rPr>
              <a:t>tm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05B707-D463-4781-81B5-CF47231BD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485775"/>
            <a:ext cx="1428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1" i="0">
                <a:solidFill>
                  <a:srgbClr val="3F4A56"/>
                </a:solidFill>
                <a:latin typeface="Arial"/>
                <a:ea typeface="Arial"/>
                <a:cs typeface="Arial"/>
              </a:defRPr>
            </a:pPr>
            <a:r>
              <a:rPr sz="713" b="1" i="0">
                <a:solidFill>
                  <a:srgbClr val="3F4A56"/>
                </a:solidFill>
                <a:latin typeface="Arial"/>
                <a:ea typeface="Arial"/>
                <a:cs typeface="Arial"/>
              </a:rPr>
              <a:t>BUILD FOR INDIA</a:t>
            </a:r>
          </a:p>
          <a:p xmlns:a="http://schemas.openxmlformats.org/drawingml/2006/main">
            <a:pPr algn="ctr">
              <a:defRPr sz="713" b="1" i="0">
                <a:solidFill>
                  <a:srgbClr val="3F4A56"/>
                </a:solidFill>
                <a:latin typeface="Arial"/>
                <a:ea typeface="Arial"/>
                <a:cs typeface="Arial"/>
              </a:defRPr>
            </a:pPr>
            <a:r>
              <a:rPr sz="713" b="1" i="0">
                <a:solidFill>
                  <a:srgbClr val="3F4A56"/>
                </a:solidFill>
                <a:latin typeface="Arial"/>
                <a:ea typeface="Arial"/>
                <a:cs typeface="Arial"/>
              </a:rPr>
              <a:t>AI HACKATHON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97AEE5-A8BC-4848-8EF0-F38BDE63B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33350"/>
            <a:ext cx="10953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52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52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IMPACT AND BENEFITS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BEE0C5-8D1B-400C-93CE-1AE264216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057275"/>
            <a:ext cx="1476375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D6B0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36FFB8-E06B-43E4-818E-DB5E6F75C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12477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Impact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AE9333-B6FB-4019-BAA0-5FEADE8D6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057275"/>
            <a:ext cx="1762125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9E9FB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BED765-3E73-4B4C-882E-3B434D8E5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1104900"/>
            <a:ext cx="15335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Benefits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56C16F-047C-43D5-8E23-9D66CB96D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3324225"/>
            <a:ext cx="1428750" cy="1428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90074B-5869-4C95-9174-87C7C1C32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800475"/>
            <a:ext cx="1219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63" b="1" i="0">
                <a:solidFill>
                  <a:srgbClr val="002970"/>
                </a:solidFill>
                <a:latin typeface="Arial"/>
                <a:ea typeface="Arial"/>
                <a:cs typeface="Arial"/>
              </a:defRPr>
            </a:pPr>
            <a:r>
              <a:rPr sz="1163" b="1" i="0">
                <a:solidFill>
                  <a:srgbClr val="002970"/>
                </a:solidFill>
                <a:latin typeface="Arial"/>
                <a:ea typeface="Arial"/>
                <a:cs typeface="Arial"/>
              </a:rPr>
              <a:t>MEDICAL</a:t>
            </a:r>
          </a:p>
          <a:p xmlns:a="http://schemas.openxmlformats.org/drawingml/2006/main">
            <a:pPr algn="ctr">
              <a:defRPr sz="1163" b="1" i="0">
                <a:solidFill>
                  <a:srgbClr val="002970"/>
                </a:solidFill>
                <a:latin typeface="Arial"/>
                <a:ea typeface="Arial"/>
                <a:cs typeface="Arial"/>
              </a:defRPr>
            </a:pPr>
            <a:r>
              <a:rPr sz="1163" b="1" i="0">
                <a:solidFill>
                  <a:srgbClr val="002970"/>
                </a:solidFill>
                <a:latin typeface="Arial"/>
                <a:ea typeface="Arial"/>
                <a:cs typeface="Arial"/>
              </a:rPr>
              <a:t>EMERGENCY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F282A4-F039-4C25-859D-9E1A97104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86000"/>
            <a:ext cx="1381125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FCE9DD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04E95C-0BDF-4DF0-9D67-53BBECF01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66975"/>
            <a:ext cx="11525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CLAIM</a:t>
            </a:r>
          </a:p>
          <a:p xmlns:a="http://schemas.openxmlformats.org/drawingml/2006/main">
            <a:pPr algn="ctr">
              <a:defRPr sz="10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COMPLETION</a:t>
            </a:r>
          </a:p>
        </p:txBody>
      </p:sp>
      <p:cxnSp>
        <p:nvCxnSpPr>
          <p:cNvPr id="82" name=""/>
          <p:cNvCxnSpPr>
            <a:stCxn xmlns:a="http://schemas.openxmlformats.org/drawingml/2006/main" id="11" idx="1"/>
            <a:endCxn xmlns:a="http://schemas.openxmlformats.org/drawingml/2006/main" id="13" idx="2"/>
          </p:cNvCxnSpPr>
          <p:nvPr/>
        </p:nvCxnSpPr>
        <p:spPr>
          <a:xfrm xmlns:a="http://schemas.openxmlformats.org/drawingml/2006/main" flipH="1" flipV="1">
            <a:off x="1414463" y="3105150"/>
            <a:ext cx="480698" cy="428311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000000"/>
            </a:solidFill>
            <a:prstDash val="solid"/>
            <a:tailEnd type="triangle" w="sm" len="sm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B74DF5-6DBB-4063-ADA1-8DA558CD4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952625"/>
            <a:ext cx="1381125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FFD6B0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25918C-0CAF-45FD-852F-F49EB0E03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133600"/>
            <a:ext cx="11525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619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LOWER DOCUMENT</a:t>
            </a:r>
          </a:p>
          <a:p xmlns:a="http://schemas.openxmlformats.org/drawingml/2006/main">
            <a:pPr algn="ctr">
              <a:defRPr sz="10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REWORK</a:t>
            </a:r>
          </a:p>
        </p:txBody>
      </p:sp>
      <p:cxnSp>
        <p:nvCxnSpPr>
          <p:cNvPr id="85" name=""/>
          <p:cNvCxnSpPr>
            <a:stCxn xmlns:a="http://schemas.openxmlformats.org/drawingml/2006/main" id="11" idx="7"/>
            <a:endCxn xmlns:a="http://schemas.openxmlformats.org/drawingml/2006/main" id="16" idx="2"/>
          </p:cNvCxnSpPr>
          <p:nvPr/>
        </p:nvCxnSpPr>
        <p:spPr>
          <a:xfrm xmlns:a="http://schemas.openxmlformats.org/drawingml/2006/main" flipV="1">
            <a:off x="2905439" y="2771775"/>
            <a:ext cx="509273" cy="761686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000000"/>
            </a:solidFill>
            <a:prstDash val="solid"/>
            <a:tailEnd type="triangle" w="sm" len="sm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D5B1CE-79C2-4E80-A7B7-6B3F0C396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333750"/>
            <a:ext cx="1381125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F9A94F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22EE84-D374-4BCC-A824-1CE6CB586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514725"/>
            <a:ext cx="11525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619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FASTER RECOVERY</a:t>
            </a:r>
          </a:p>
          <a:p xmlns:a="http://schemas.openxmlformats.org/drawingml/2006/main">
            <a:pPr algn="ctr">
              <a:defRPr sz="10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PLAN</a:t>
            </a:r>
          </a:p>
        </p:txBody>
      </p:sp>
      <p:cxnSp>
        <p:nvCxnSpPr>
          <p:cNvPr id="88" name=""/>
          <p:cNvCxnSpPr>
            <a:stCxn xmlns:a="http://schemas.openxmlformats.org/drawingml/2006/main" id="11" idx="6"/>
            <a:endCxn xmlns:a="http://schemas.openxmlformats.org/drawingml/2006/main" id="19" idx="1"/>
          </p:cNvCxnSpPr>
          <p:nvPr/>
        </p:nvCxnSpPr>
        <p:spPr>
          <a:xfrm xmlns:a="http://schemas.openxmlformats.org/drawingml/2006/main" flipV="1">
            <a:off x="3114675" y="3743325"/>
            <a:ext cx="657225" cy="295275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000000"/>
            </a:solidFill>
            <a:prstDash val="solid"/>
            <a:tailEnd type="triangle" w="sm" len="sm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17209C-CDE9-4457-9DC6-41CB135DA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5124450"/>
            <a:ext cx="1381125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FF922B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1EBD709-7DA7-4A62-8E11-E1809134B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5305425"/>
            <a:ext cx="11525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496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LESS HIGH COST</a:t>
            </a:r>
          </a:p>
          <a:p xmlns:a="http://schemas.openxmlformats.org/drawingml/2006/main">
            <a:pPr algn="ctr">
              <a:defRPr sz="10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BORROWING</a:t>
            </a:r>
          </a:p>
        </p:txBody>
      </p:sp>
      <p:cxnSp>
        <p:nvCxnSpPr>
          <p:cNvPr id="91" name=""/>
          <p:cNvCxnSpPr>
            <a:stCxn xmlns:a="http://schemas.openxmlformats.org/drawingml/2006/main" id="11" idx="5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2905439" y="4543739"/>
            <a:ext cx="361636" cy="990286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000000"/>
            </a:solidFill>
            <a:prstDash val="solid"/>
            <a:tailEnd type="triangle" w="sm" len="sm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C4B3F62-8D1C-4E47-8986-DD5296D67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467350"/>
            <a:ext cx="1381125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FFD6B0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E868B55-E2C4-4441-B592-21258F58B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648325"/>
            <a:ext cx="11525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6625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INDIAN LANGUAGE</a:t>
            </a:r>
          </a:p>
          <a:p xmlns:a="http://schemas.openxmlformats.org/drawingml/2006/main">
            <a:pPr algn="ctr">
              <a:defRPr sz="10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ACCESS</a:t>
            </a:r>
          </a:p>
        </p:txBody>
      </p:sp>
      <p:cxnSp>
        <p:nvCxnSpPr>
          <p:cNvPr id="94" name=""/>
          <p:cNvCxnSpPr>
            <a:stCxn xmlns:a="http://schemas.openxmlformats.org/drawingml/2006/main" id="11" idx="4"/>
            <a:endCxn xmlns:a="http://schemas.openxmlformats.org/drawingml/2006/main" id="25" idx="0"/>
          </p:cNvCxnSpPr>
          <p:nvPr/>
        </p:nvCxnSpPr>
        <p:spPr>
          <a:xfrm xmlns:a="http://schemas.openxmlformats.org/drawingml/2006/main" flipH="1">
            <a:off x="1833563" y="4752975"/>
            <a:ext cx="566738" cy="714375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000000"/>
            </a:solidFill>
            <a:prstDash val="solid"/>
            <a:tailEnd type="triangle" w="sm" len="sm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F48A87E-2565-46AA-9D9F-414EB26DF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3848100"/>
            <a:ext cx="1381125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FCE9DD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1C6AC91-9C9D-490D-9FDE-57732D800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4029075"/>
            <a:ext cx="11525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ONE CASE</a:t>
            </a:r>
          </a:p>
          <a:p xmlns:a="http://schemas.openxmlformats.org/drawingml/2006/main">
            <a:pPr algn="ctr">
              <a:defRPr sz="10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TIMELINE</a:t>
            </a:r>
          </a:p>
        </p:txBody>
      </p:sp>
      <p:cxnSp>
        <p:nvCxnSpPr>
          <p:cNvPr id="97" name=""/>
          <p:cNvCxnSpPr>
            <a:stCxn xmlns:a="http://schemas.openxmlformats.org/drawingml/2006/main" id="11" idx="2"/>
            <a:endCxn xmlns:a="http://schemas.openxmlformats.org/drawingml/2006/main" id="28" idx="3"/>
          </p:cNvCxnSpPr>
          <p:nvPr/>
        </p:nvCxnSpPr>
        <p:spPr>
          <a:xfrm xmlns:a="http://schemas.openxmlformats.org/drawingml/2006/main" flipH="1">
            <a:off x="1609725" y="4038600"/>
            <a:ext cx="76200" cy="219075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000000"/>
            </a:solidFill>
            <a:prstDash val="solid"/>
            <a:tailEnd type="triangle" w="sm" len="sm"/>
          </a:ln>
        </p:spPr>
      </p:cxn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B7A04B3-F450-4575-81C5-3F4143F0B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477000"/>
            <a:ext cx="40005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9A94F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F341F6D-3716-41C6-A8B3-015FC26E7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6610350"/>
            <a:ext cx="3695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9943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Societal result: households recover eligible money before taking new debt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EDA068C-853C-4657-AC10-B2BD3C37B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1257300"/>
            <a:ext cx="3000375" cy="1266825"/>
          </a:xfrm>
          <a:prstGeom xmlns:a="http://schemas.openxmlformats.org/drawingml/2006/main" prst="roundRect">
            <a:avLst>
              <a:gd name="adj" fmla="val 75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878BE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68B3AC3-79AC-4EBA-BADE-48EB50DF7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13525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0878B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 i="0">
                <a:solidFill>
                  <a:srgbClr val="0878BE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0A7CDA7-CA73-4946-A538-E7B54CACE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1371600"/>
            <a:ext cx="2428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63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PLAN IN UNDER 10 MINUTES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FAE42D4-AE02-4646-8A51-150CC5816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1771650"/>
            <a:ext cx="2524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2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2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Pilot target from bill upload to a complete, ranked recovery plan.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031625A-30DA-4CA5-99E7-3BAE3E86D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1257300"/>
            <a:ext cx="3000375" cy="1266825"/>
          </a:xfrm>
          <a:prstGeom xmlns:a="http://schemas.openxmlformats.org/drawingml/2006/main" prst="roundRect">
            <a:avLst>
              <a:gd name="adj" fmla="val 75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878BE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8149C2C-2B31-4714-9699-7EA3241D1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13525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0878B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 i="0">
                <a:solidFill>
                  <a:srgbClr val="0878BE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F352333-63FB-4E68-8A40-05FC0146A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9425" y="1371600"/>
            <a:ext cx="2428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63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100% USER CONFIRMATION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7478EC9-A8BC-411C-A7CE-AB1CF679A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7975" y="1771650"/>
            <a:ext cx="2524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2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2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Every submission, data share and credit step requires explicit approval.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A357FDE-0117-4956-AFD0-22C0EB042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695575"/>
            <a:ext cx="3000375" cy="1266825"/>
          </a:xfrm>
          <a:prstGeom xmlns:a="http://schemas.openxmlformats.org/drawingml/2006/main" prst="roundRect">
            <a:avLst>
              <a:gd name="adj" fmla="val 75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FF922B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91EA8EF-323B-464F-AC5E-B449A0303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79082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F92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 i="0">
                <a:solidFill>
                  <a:srgbClr val="FF922B"/>
                </a:solidFill>
                <a:latin typeface="Times New Roman"/>
                <a:ea typeface="Times New Roman"/>
                <a:cs typeface="Times New Roman"/>
              </a:rPr>
              <a:t>3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FF7F402-5993-4BE5-BFD8-6081C04EB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2809875"/>
            <a:ext cx="2428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2207"/>
          </a:bodyPr>
          <a:lstStyle xmlns:a="http://schemas.openxmlformats.org/drawingml/2006/main"/>
          <a:p xmlns:a="http://schemas.openxmlformats.org/drawingml/2006/main">
            <a:pPr algn="l">
              <a:defRPr sz="1163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63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ZERO AUTONOMOUS UNDERWRITING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E97C108-9D0D-452E-A1A0-EFB3D1D6D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3209925"/>
            <a:ext cx="2524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2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2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Rules prepare evidence. Regulated entities approve claims and credit.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A0C2D46-5C27-41B8-9E27-6E07D2958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695575"/>
            <a:ext cx="3000375" cy="1266825"/>
          </a:xfrm>
          <a:prstGeom xmlns:a="http://schemas.openxmlformats.org/drawingml/2006/main" prst="roundRect">
            <a:avLst>
              <a:gd name="adj" fmla="val 75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FF922B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4B40821-A979-48CD-A821-9B55C00B1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279082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F92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 i="0">
                <a:solidFill>
                  <a:srgbClr val="FF922B"/>
                </a:solidFill>
                <a:latin typeface="Times New Roman"/>
                <a:ea typeface="Times New Roman"/>
                <a:cs typeface="Times New Roman"/>
              </a:rPr>
              <a:t>4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2955140-3AF6-4C56-AB5B-D067ED6B2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9425" y="2809875"/>
            <a:ext cx="2428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63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CLAIM FIRST GAP SOLVER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917DDE0-24EC-4C67-9C7D-0EC08F85A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7975" y="3209925"/>
            <a:ext cx="2524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2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2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funding need equals payable cost minus expected recovery.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788EDD2-78B2-432D-A717-821039867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133850"/>
            <a:ext cx="3000375" cy="1266825"/>
          </a:xfrm>
          <a:prstGeom xmlns:a="http://schemas.openxmlformats.org/drawingml/2006/main" prst="roundRect">
            <a:avLst>
              <a:gd name="adj" fmla="val 75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E402F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753DB88-51D9-47FB-A71A-597561D77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2291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EE402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 i="0">
                <a:solidFill>
                  <a:srgbClr val="EE402F"/>
                </a:solidFill>
                <a:latin typeface="Times New Roman"/>
                <a:ea typeface="Times New Roman"/>
                <a:cs typeface="Times New Roman"/>
              </a:rPr>
              <a:t>5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8EA1DD4-F2F5-4649-8340-6EAA1018C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4248150"/>
            <a:ext cx="2428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63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DOCUMENT READINESS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DD53D5A-0FF9-4BFF-8224-6E95027E5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4648200"/>
            <a:ext cx="2524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2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2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case view names each missing proof and the deadline it affects.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4871E5B-67D9-431C-871A-CADF84913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4133850"/>
            <a:ext cx="3000375" cy="1266825"/>
          </a:xfrm>
          <a:prstGeom xmlns:a="http://schemas.openxmlformats.org/drawingml/2006/main" prst="roundRect">
            <a:avLst>
              <a:gd name="adj" fmla="val 75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E402F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18BEAF8-6E30-460A-BD90-A29FD4CD4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42291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EE402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 i="0">
                <a:solidFill>
                  <a:srgbClr val="EE402F"/>
                </a:solidFill>
                <a:latin typeface="Times New Roman"/>
                <a:ea typeface="Times New Roman"/>
                <a:cs typeface="Times New Roman"/>
              </a:rPr>
              <a:t>6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AD4A687-5294-435A-BD5A-655F983CD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9425" y="4248150"/>
            <a:ext cx="2428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107"/>
          </a:bodyPr>
          <a:lstStyle xmlns:a="http://schemas.openxmlformats.org/drawingml/2006/main"/>
          <a:p xmlns:a="http://schemas.openxmlformats.org/drawingml/2006/main">
            <a:pPr algn="l">
              <a:defRPr sz="1163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63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PLAIN LANGUAGE EXPLANATIONS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3120B36-9857-4854-A4BE-DE0D53D24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7975" y="4648200"/>
            <a:ext cx="2524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2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2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Users see why a route qualifies, fails or needs human review.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E7342BA-A3D2-4E75-AB68-D075DE530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5572125"/>
            <a:ext cx="3000375" cy="1266825"/>
          </a:xfrm>
          <a:prstGeom xmlns:a="http://schemas.openxmlformats.org/drawingml/2006/main" prst="roundRect">
            <a:avLst>
              <a:gd name="adj" fmla="val 75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59947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D6EA0E8-891F-4000-B506-55E4C4EA3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566737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599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 i="0">
                <a:solidFill>
                  <a:srgbClr val="159947"/>
                </a:solidFill>
                <a:latin typeface="Times New Roman"/>
                <a:ea typeface="Times New Roman"/>
                <a:cs typeface="Times New Roman"/>
              </a:rPr>
              <a:t>7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2A32014-AA3F-4239-A95E-154F67C32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5686425"/>
            <a:ext cx="2428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63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PAYTM DISTRIBUTION FIT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9C318C4-E290-4092-B524-3833218B9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6086475"/>
            <a:ext cx="2524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2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2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concept can use Paytm identity, payments, insurance and partner rails.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8F967DA-300A-436F-A34A-30BC63436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5572125"/>
            <a:ext cx="3000375" cy="1266825"/>
          </a:xfrm>
          <a:prstGeom xmlns:a="http://schemas.openxmlformats.org/drawingml/2006/main" prst="roundRect">
            <a:avLst>
              <a:gd name="adj" fmla="val 75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59947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E92AF58-61AF-4B58-9734-E2E624578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566737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599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 i="0">
                <a:solidFill>
                  <a:srgbClr val="159947"/>
                </a:solidFill>
                <a:latin typeface="Times New Roman"/>
                <a:ea typeface="Times New Roman"/>
                <a:cs typeface="Times New Roman"/>
              </a:rPr>
              <a:t>8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EEBF73F1-9E91-4D58-9D2A-CD08BE0C1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9425" y="5686425"/>
            <a:ext cx="2428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63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EXPANSION BEYOND HEALTH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8494337A-03ED-46B1-A5E0-940C9EDAC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7975" y="6086475"/>
            <a:ext cx="2524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2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2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recovery engine can support accident, flood and income loss journeys.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995A6233-1DC9-409C-9190-BAC6517F5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239000"/>
            <a:ext cx="1371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8BE"/>
          </a:solidFill>
          <a:ln xmlns:a="http://schemas.openxmlformats.org/drawingml/2006/main" w="0">
            <a:noFill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C131C0AA-1282-40FD-B949-CCAA47DA7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736282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556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PAYTM BUILD FOR INDIA AI HACKATHON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2190C0FE-4E8C-4E46-A9BC-FE87C7C69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77800" y="73533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22959885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C616B33A-D8B8-4E2A-9016-9B3F21F3F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71450"/>
            <a:ext cx="590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298"/>
          </a:bodyPr>
          <a:lstStyle xmlns:a="http://schemas.openxmlformats.org/drawingml/2006/main"/>
          <a:p xmlns:a="http://schemas.openxmlformats.org/drawingml/2006/main">
            <a:pPr algn="ctr">
              <a:defRPr sz="25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0F434B-9BD2-40E9-AA3D-FA88AC9BC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28650"/>
            <a:ext cx="704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638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FINANCIAL</a:t>
            </a:r>
          </a:p>
          <a:p xmlns:a="http://schemas.openxmlformats.org/drawingml/2006/main">
            <a:pPr algn="ctr">
              <a:defRPr sz="638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638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LIFELINE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0ABC22-23B8-44C1-919F-9AA1214E6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600" y="171450"/>
            <a:ext cx="671703" cy="2621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84" b="1" i="0">
                <a:solidFill>
                  <a:srgbClr val="00B9F1"/>
                </a:solidFill>
                <a:latin typeface="Arial"/>
                <a:ea typeface="Arial"/>
                <a:cs typeface="Arial"/>
              </a:defRPr>
            </a:pPr>
            <a:r>
              <a:rPr sz="1484" b="1" i="0">
                <a:solidFill>
                  <a:srgbClr val="00B9F1"/>
                </a:solidFill>
                <a:latin typeface="Arial"/>
                <a:ea typeface="Arial"/>
                <a:cs typeface="Arial"/>
              </a:rPr>
              <a:t>pay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B96A69-0449-4F3E-8FA9-BB218DE37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06516" y="171450"/>
            <a:ext cx="557022" cy="2621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84" b="1" i="0">
                <a:solidFill>
                  <a:srgbClr val="002970"/>
                </a:solidFill>
                <a:latin typeface="Arial"/>
                <a:ea typeface="Arial"/>
                <a:cs typeface="Arial"/>
              </a:defRPr>
            </a:pPr>
            <a:r>
              <a:rPr sz="1484" b="1" i="0">
                <a:solidFill>
                  <a:srgbClr val="002970"/>
                </a:solidFill>
                <a:latin typeface="Arial"/>
                <a:ea typeface="Arial"/>
                <a:cs typeface="Arial"/>
              </a:rPr>
              <a:t>tm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429D5B-9E1E-4DB1-A4B6-B8D68AC97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485775"/>
            <a:ext cx="1428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1" i="0">
                <a:solidFill>
                  <a:srgbClr val="3F4A56"/>
                </a:solidFill>
                <a:latin typeface="Arial"/>
                <a:ea typeface="Arial"/>
                <a:cs typeface="Arial"/>
              </a:defRPr>
            </a:pPr>
            <a:r>
              <a:rPr sz="713" b="1" i="0">
                <a:solidFill>
                  <a:srgbClr val="3F4A56"/>
                </a:solidFill>
                <a:latin typeface="Arial"/>
                <a:ea typeface="Arial"/>
                <a:cs typeface="Arial"/>
              </a:rPr>
              <a:t>BUILD FOR INDIA</a:t>
            </a:r>
          </a:p>
          <a:p xmlns:a="http://schemas.openxmlformats.org/drawingml/2006/main">
            <a:pPr algn="ctr">
              <a:defRPr sz="713" b="1" i="0">
                <a:solidFill>
                  <a:srgbClr val="3F4A56"/>
                </a:solidFill>
                <a:latin typeface="Arial"/>
                <a:ea typeface="Arial"/>
                <a:cs typeface="Arial"/>
              </a:defRPr>
            </a:pPr>
            <a:r>
              <a:rPr sz="713" b="1" i="0">
                <a:solidFill>
                  <a:srgbClr val="3F4A56"/>
                </a:solidFill>
                <a:latin typeface="Arial"/>
                <a:ea typeface="Arial"/>
                <a:cs typeface="Arial"/>
              </a:rPr>
              <a:t>AI HACKATHON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D8AF35-6938-4141-9EAB-A677BDFC9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33350"/>
            <a:ext cx="10953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52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52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EIGHT-HOUR MVP AND DEMO PLAN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BD07BE-8372-4DA3-8C5E-8BD9118ED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000125"/>
            <a:ext cx="247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410"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BUILD SCHEDULE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066CF3-B95B-4278-8101-01A6066F9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428750"/>
            <a:ext cx="1952625" cy="11049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FCE9DD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4819C1-7C62-49FD-B313-E98DD07A4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430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7778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00-01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321C5F-C27E-4B6E-8725-3215E1306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907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CASE MODEL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C948B9-F998-4074-A251-8238634B0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9550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354"/>
          </a:bodyPr>
          <a:lstStyle xmlns:a="http://schemas.openxmlformats.org/drawingml/2006/main"/>
          <a:p xmlns:a="http://schemas.openxmlformats.org/drawingml/2006/main">
            <a:pPr algn="ctr">
              <a:defRPr sz="86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86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Synthetic user, bill and policy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CD4595-29F0-491B-BE62-7F623071C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1428750"/>
            <a:ext cx="1952625" cy="11049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FFD6B0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0B2986-F936-4536-905F-60EC2C376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5430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7778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01-02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C3B2F0-3971-4263-9067-AC3382F9C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7907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INTAKE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062D3F-AE38-4DB4-A9E2-F9392E7CC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209550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86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Voice or text and OCR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24DEC7-143E-4E5D-9D56-CED98E8F0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428750"/>
            <a:ext cx="1952625" cy="11049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FBC88F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B25491-7DF6-41E1-AD42-A01A357FE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5430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7778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02-04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ACB88D-9CBE-455E-8559-A54BA15EB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7907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RULE ENGINE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8FFE18-CF63-41C5-B833-5F8C2FC2F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09550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601"/>
          </a:bodyPr>
          <a:lstStyle xmlns:a="http://schemas.openxmlformats.org/drawingml/2006/main"/>
          <a:p xmlns:a="http://schemas.openxmlformats.org/drawingml/2006/main">
            <a:pPr algn="ctr">
              <a:defRPr sz="86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86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Policy and scheme checks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0F4EA5-ABBB-4200-94C5-11AD40FFB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428750"/>
            <a:ext cx="1952625" cy="11049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FBBB72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EC34F1-2404-4F11-90AE-A673B5CFD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5430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7778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04-05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6F74F7C-4B8F-4538-915C-902462DD7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7907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DOC PACK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D27BD3A-EA96-4B77-8496-6B74ECEC2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09550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86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Missing proof and prefill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46640C3-4861-4BEB-8343-84EABA699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428750"/>
            <a:ext cx="1952625" cy="11049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F9A94F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9D197BF-211D-4C18-8414-99838D192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5430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7778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05-06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DF4DE8B-A65A-4A2F-A89E-C5FBD5FDA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907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GAP VIEW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4A29647-31C4-40F0-88DA-F380D7BA0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209550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354"/>
          </a:bodyPr>
          <a:lstStyle xmlns:a="http://schemas.openxmlformats.org/drawingml/2006/main"/>
          <a:p xmlns:a="http://schemas.openxmlformats.org/drawingml/2006/main">
            <a:pPr algn="ctr">
              <a:defRPr sz="86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86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Expected recovery and remainder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B5DA800-5DFA-47BB-8F4A-BA1F89BF2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428750"/>
            <a:ext cx="1952625" cy="11049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FF922B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D2B4D9B-99D6-46F6-BF91-ED45E7CD8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15430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7778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06-07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98742EC-773D-4060-87B1-CEFC388EA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17907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ACTIONS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61B839D-74B5-44DD-85EA-9FB27A9BF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09550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86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Consent gate and tracker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1CE93C9-6306-4523-9927-62DDFAB3C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1428750"/>
            <a:ext cx="1952625" cy="11049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D9E9FB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BD0D4C3-A4E0-4222-9BC8-913640C50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15430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7778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07-08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9962D7F-DD0B-4AF7-A4DA-A8FC524C4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0050" y="17907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POLISH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60C742A-4F62-41D5-8D09-B3C7A3799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9575" y="209550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86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Test the golden journey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63EA97A-2B4A-4C87-92E2-9FD751BB3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771775"/>
            <a:ext cx="0" cy="42957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43C6811-A465-4C75-A1F1-6BDC439CD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67025"/>
            <a:ext cx="2476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9A94F"/>
          </a:solidFill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1E86E2B-4729-44F2-923C-1E57C690B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14650"/>
            <a:ext cx="22479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Demo storyline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58992D1-B12F-42E9-A579-F5F6578E1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3852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2970"/>
          </a:solidFill>
          <a:ln xmlns:a="http://schemas.openxmlformats.org/drawingml/2006/main" w="0">
            <a:noFill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6C585D6-9E53-4AE9-8593-9622B63C8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14725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AD044F0-6043-4AF3-ADD4-5E5AA9D84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38525"/>
            <a:ext cx="5429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5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 user says in Hindi that a family member has been hospitalised and uploads the bill.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408901A-5F7E-401D-840C-AFCEFE8E5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2970"/>
          </a:solidFill>
          <a:ln xmlns:a="http://schemas.openxmlformats.org/drawingml/2006/main" w="0">
            <a:noFill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B0B1EE9-C7F1-44B6-943B-99AB8DDCF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767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2B76077-EFA0-4D56-8AA1-12A9C4F32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00500"/>
            <a:ext cx="5429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5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system extracts payable amount, policy details and missing evidence.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6BE760A-E1A1-46E3-A6B5-13BD28071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6247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2970"/>
          </a:solidFill>
          <a:ln xmlns:a="http://schemas.openxmlformats.org/drawingml/2006/main" w="0">
            <a:noFill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5B7D27F-BF8E-47EC-A178-1F9EC5C53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638675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36FCE08-D877-44B1-94E5-C2EA8A559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562475"/>
            <a:ext cx="5429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5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Entitlement Graph ranks insurance and public benefit routes with reasons.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BDE6D76-7295-47F0-B00F-AD65970F6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1244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2970"/>
          </a:solidFill>
          <a:ln xmlns:a="http://schemas.openxmlformats.org/drawingml/2006/main" w="0">
            <a:noFill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5EA7FAE-E873-4811-893C-8D8CBF1C5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2006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60C83F0-2E09-43A7-B4AC-688282F24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124450"/>
            <a:ext cx="5429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5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document pack builder prepares the claim files and names unresolved proofs.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3E361A2-ECD0-4E38-93CE-E2CC84882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68642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2970"/>
          </a:solidFill>
          <a:ln xmlns:a="http://schemas.openxmlformats.org/drawingml/2006/main" w="0">
            <a:noFill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21D326D-FEE0-47AF-8E1B-4616E14AB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62625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4BFE9A8-2680-49CA-A86A-387264318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686425"/>
            <a:ext cx="5429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5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gap solver shows expected recovery, remaining need and transparent options.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716D525-A639-49BB-97BF-8A2CCDB3E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2484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22B"/>
          </a:solidFill>
          <a:ln xmlns:a="http://schemas.openxmlformats.org/drawingml/2006/main" w="0">
            <a:noFill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07FF986-C3AB-42F0-8900-B974DA0F9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246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347F79B-02A2-4EEC-A173-1BFAEBFDF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248400"/>
            <a:ext cx="5429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5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user approves one action. The case timeline records owner, status and deadline.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BF60B68-2289-4372-98D1-B5EC8D403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867025"/>
            <a:ext cx="3095625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9E9FB"/>
          </a:solidFill>
          <a:ln xmlns:a="http://schemas.openxmlformats.org/drawingml/2006/main" w="0">
            <a:noFill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DA82ECB-0F05-429E-83F7-AC31BAFB5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914650"/>
            <a:ext cx="28670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What judges can verify</a:t>
            </a:r>
          </a:p>
        </p:txBody>
      </p:sp>
      <p:graphicFrame>
        <p:nvGraphicFramePr>
          <p:cNvPr id="123" name=""/>
          <p:cNvGraphicFramePr/>
          <p:nvPr/>
        </p:nvGraphicFramePr>
        <p:xfrm>
          <a:off xmlns:a="http://schemas.openxmlformats.org/drawingml/2006/main" x="7477125" y="3438525"/>
          <a:ext xmlns:a="http://schemas.openxmlformats.org/drawingml/2006/main" cx="5762625" cy="3295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3667125"/>
              </a:tblGrid>
              <a:tr h="470807"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CHECK</a:t>
                      </a:r>
                    </a:p>
                  </a:txBody>
                  <a:tcPr marL="95250" marR="95250" marT="76200" marB="66675" anchor="ctr">
                    <a:solidFill>
                      <a:srgbClr val="00297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VISIBLE PROOF IN THE DEMO</a:t>
                      </a:r>
                    </a:p>
                  </a:txBody>
                  <a:tcPr marL="95250" marR="95250" marT="76200" marB="66675" anchor="ctr">
                    <a:solidFill>
                      <a:srgbClr val="002970"/>
                    </a:solidFill>
                  </a:tcPr>
                </a:tc>
              </a:tr>
              <a:tr h="470807">
                <a:tc>
                  <a:txBody>
                    <a:bodyPr/>
                    <a:lstStyle/>
                    <a:p>
                      <a:r>
                        <a:rPr sz="915" b="1">
                          <a:solidFill>
                            <a:srgbClr val="002970"/>
                          </a:solidFill>
                          <a:latin typeface="Arial"/>
                          <a:ea typeface="Arial"/>
                          <a:cs typeface="Arial"/>
                        </a:rPr>
                        <a:t>Problem fit</a:t>
                      </a:r>
                    </a:p>
                  </a:txBody>
                  <a:tcPr marL="104775" marR="104775" marT="66675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5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The journey removes repeated portals and document requests after hospitalization.</a:t>
                      </a:r>
                    </a:p>
                  </a:txBody>
                  <a:tcPr marL="104775" marR="104775" marT="66675" marB="57150" anchor="ctr">
                    <a:solidFill>
                      <a:srgbClr val="FFFFFF"/>
                    </a:solidFill>
                  </a:tcPr>
                </a:tc>
              </a:tr>
              <a:tr h="470807">
                <a:tc>
                  <a:txBody>
                    <a:bodyPr/>
                    <a:lstStyle/>
                    <a:p>
                      <a:r>
                        <a:rPr sz="915" b="1">
                          <a:solidFill>
                            <a:srgbClr val="002970"/>
                          </a:solidFill>
                          <a:latin typeface="Arial"/>
                          <a:ea typeface="Arial"/>
                          <a:cs typeface="Arial"/>
                        </a:rPr>
                        <a:t>Technical depth</a:t>
                      </a:r>
                    </a:p>
                  </a:txBody>
                  <a:tcPr marL="104775" marR="104775" marT="66675" marB="57150" anchor="ctr">
                    <a:solidFill>
                      <a:srgbClr val="EEF6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5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OCR, policy retrieval, deterministic rules, a funding calculator and an action state machine.</a:t>
                      </a:r>
                    </a:p>
                  </a:txBody>
                  <a:tcPr marL="104775" marR="104775" marT="66675" marB="57150" anchor="ctr">
                    <a:solidFill>
                      <a:srgbClr val="EEF6FD"/>
                    </a:solidFill>
                  </a:tcPr>
                </a:tc>
              </a:tr>
              <a:tr h="470807">
                <a:tc>
                  <a:txBody>
                    <a:bodyPr/>
                    <a:lstStyle/>
                    <a:p>
                      <a:r>
                        <a:rPr sz="915" b="1">
                          <a:solidFill>
                            <a:srgbClr val="002970"/>
                          </a:solidFill>
                          <a:latin typeface="Arial"/>
                          <a:ea typeface="Arial"/>
                          <a:cs typeface="Arial"/>
                        </a:rPr>
                        <a:t>Responsible AI</a:t>
                      </a:r>
                    </a:p>
                  </a:txBody>
                  <a:tcPr marL="104775" marR="104775" marT="66675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5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The model extracts and explains. Rules and institutions make regulated decisions.</a:t>
                      </a:r>
                    </a:p>
                  </a:txBody>
                  <a:tcPr marL="104775" marR="104775" marT="66675" marB="57150" anchor="ctr">
                    <a:solidFill>
                      <a:srgbClr val="FFFFFF"/>
                    </a:solidFill>
                  </a:tcPr>
                </a:tc>
              </a:tr>
              <a:tr h="470807">
                <a:tc>
                  <a:txBody>
                    <a:bodyPr/>
                    <a:lstStyle/>
                    <a:p>
                      <a:r>
                        <a:rPr sz="915" b="1">
                          <a:solidFill>
                            <a:srgbClr val="002970"/>
                          </a:solidFill>
                          <a:latin typeface="Arial"/>
                          <a:ea typeface="Arial"/>
                          <a:cs typeface="Arial"/>
                        </a:rPr>
                        <a:t>India readiness</a:t>
                      </a:r>
                    </a:p>
                  </a:txBody>
                  <a:tcPr marL="104775" marR="104775" marT="66675" marB="57150" anchor="ctr">
                    <a:solidFill>
                      <a:srgbClr val="EEF6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5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Indian language voice, DigiLocker, Account Aggregator, myScheme and NHCX adapters.</a:t>
                      </a:r>
                    </a:p>
                  </a:txBody>
                  <a:tcPr marL="104775" marR="104775" marT="66675" marB="57150" anchor="ctr">
                    <a:solidFill>
                      <a:srgbClr val="EEF6FD"/>
                    </a:solidFill>
                  </a:tcPr>
                </a:tc>
              </a:tr>
              <a:tr h="470807">
                <a:tc>
                  <a:txBody>
                    <a:bodyPr/>
                    <a:lstStyle/>
                    <a:p>
                      <a:r>
                        <a:rPr sz="915" b="1">
                          <a:solidFill>
                            <a:srgbClr val="002970"/>
                          </a:solidFill>
                          <a:latin typeface="Arial"/>
                          <a:ea typeface="Arial"/>
                          <a:cs typeface="Arial"/>
                        </a:rPr>
                        <a:t>Feasibility</a:t>
                      </a:r>
                    </a:p>
                  </a:txBody>
                  <a:tcPr marL="104775" marR="104775" marT="66675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5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One complete hospitalization journey runs with synthetic data and mock APIs in eight hours.</a:t>
                      </a:r>
                    </a:p>
                  </a:txBody>
                  <a:tcPr marL="104775" marR="104775" marT="66675" marB="57150" anchor="ctr">
                    <a:solidFill>
                      <a:srgbClr val="FFFFFF"/>
                    </a:solidFill>
                  </a:tcPr>
                </a:tc>
              </a:tr>
              <a:tr h="470807">
                <a:tc>
                  <a:txBody>
                    <a:bodyPr/>
                    <a:lstStyle/>
                    <a:p>
                      <a:r>
                        <a:rPr sz="915" b="1">
                          <a:solidFill>
                            <a:srgbClr val="002970"/>
                          </a:solidFill>
                          <a:latin typeface="Arial"/>
                          <a:ea typeface="Arial"/>
                          <a:cs typeface="Arial"/>
                        </a:rPr>
                        <a:t>Scale</a:t>
                      </a:r>
                    </a:p>
                  </a:txBody>
                  <a:tcPr marL="104775" marR="104775" marT="66675" marB="57150" anchor="ctr">
                    <a:solidFill>
                      <a:srgbClr val="EEF6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5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New incident types reuse the same event, entitlement, document and action architecture.</a:t>
                      </a:r>
                    </a:p>
                  </a:txBody>
                  <a:tcPr marL="104775" marR="104775" marT="66675" marB="57150" anchor="ctr">
                    <a:solidFill>
                      <a:srgbClr val="EEF6FD"/>
                    </a:solidFill>
                  </a:tcPr>
                </a:tc>
              </a:tr>
            </a:tbl>
          </a:graphicData>
        </a:graphic>
      </p:graphicFrame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DC28674-F6AF-4371-9A05-DBC823A4B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29425"/>
            <a:ext cx="127825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CE9DD"/>
          </a:solidFill>
          <a:ln xmlns:a="http://schemas.openxmlformats.org/drawingml/2006/main" w="10478">
            <a:solidFill>
              <a:srgbClr val="FF922B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A20ED4D-6887-4DD9-A963-67D9A66E0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96100"/>
            <a:ext cx="12477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49731"/>
          </a:bodyPr>
          <a:lstStyle xmlns:a="http://schemas.openxmlformats.org/drawingml/2006/main"/>
          <a:p xmlns:a="http://schemas.openxmlformats.org/drawingml/2006/main">
            <a:pPr algn="ctr">
              <a:defRPr sz="93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3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MVP boundary: no real claim, credit decision or money movement. The demo proves planning, document preparation, consent and tracking.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257880F9-30D8-4109-BABD-53A5FDC43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239000"/>
            <a:ext cx="1371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8BE"/>
          </a:solidFill>
          <a:ln xmlns:a="http://schemas.openxmlformats.org/drawingml/2006/main" w="0">
            <a:noFill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47DDD92-5C83-469C-8B04-C81F8C097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736282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556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PAYTM BUILD FOR INDIA AI HACKATHON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55B29E71-1226-49D5-960A-1455522AC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77800" y="73533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3002023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80F341E-B055-486E-86CE-1BEB6565B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71450"/>
            <a:ext cx="590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298"/>
          </a:bodyPr>
          <a:lstStyle xmlns:a="http://schemas.openxmlformats.org/drawingml/2006/main"/>
          <a:p xmlns:a="http://schemas.openxmlformats.org/drawingml/2006/main">
            <a:pPr algn="ctr">
              <a:defRPr sz="25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BF492D-F72D-4169-B2ED-CCC739148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28650"/>
            <a:ext cx="704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638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FINANCIAL</a:t>
            </a:r>
          </a:p>
          <a:p xmlns:a="http://schemas.openxmlformats.org/drawingml/2006/main">
            <a:pPr algn="ctr">
              <a:defRPr sz="638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638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LIFELINE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536633-9CC8-45FF-828A-9C595F326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600" y="171450"/>
            <a:ext cx="671703" cy="2621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84" b="1" i="0">
                <a:solidFill>
                  <a:srgbClr val="00B9F1"/>
                </a:solidFill>
                <a:latin typeface="Arial"/>
                <a:ea typeface="Arial"/>
                <a:cs typeface="Arial"/>
              </a:defRPr>
            </a:pPr>
            <a:r>
              <a:rPr sz="1484" b="1" i="0">
                <a:solidFill>
                  <a:srgbClr val="00B9F1"/>
                </a:solidFill>
                <a:latin typeface="Arial"/>
                <a:ea typeface="Arial"/>
                <a:cs typeface="Arial"/>
              </a:rPr>
              <a:t>pay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802FDE-B864-43B2-8AEA-D94374EF8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06516" y="171450"/>
            <a:ext cx="557022" cy="2621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84" b="1" i="0">
                <a:solidFill>
                  <a:srgbClr val="002970"/>
                </a:solidFill>
                <a:latin typeface="Arial"/>
                <a:ea typeface="Arial"/>
                <a:cs typeface="Arial"/>
              </a:defRPr>
            </a:pPr>
            <a:r>
              <a:rPr sz="1484" b="1" i="0">
                <a:solidFill>
                  <a:srgbClr val="002970"/>
                </a:solidFill>
                <a:latin typeface="Arial"/>
                <a:ea typeface="Arial"/>
                <a:cs typeface="Arial"/>
              </a:rPr>
              <a:t>tm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8AFF9D-BE7B-430B-85D6-A199D60F9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485775"/>
            <a:ext cx="1428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1" i="0">
                <a:solidFill>
                  <a:srgbClr val="3F4A56"/>
                </a:solidFill>
                <a:latin typeface="Arial"/>
                <a:ea typeface="Arial"/>
                <a:cs typeface="Arial"/>
              </a:defRPr>
            </a:pPr>
            <a:r>
              <a:rPr sz="713" b="1" i="0">
                <a:solidFill>
                  <a:srgbClr val="3F4A56"/>
                </a:solidFill>
                <a:latin typeface="Arial"/>
                <a:ea typeface="Arial"/>
                <a:cs typeface="Arial"/>
              </a:rPr>
              <a:t>BUILD FOR INDIA</a:t>
            </a:r>
          </a:p>
          <a:p xmlns:a="http://schemas.openxmlformats.org/drawingml/2006/main">
            <a:pPr algn="ctr">
              <a:defRPr sz="713" b="1" i="0">
                <a:solidFill>
                  <a:srgbClr val="3F4A56"/>
                </a:solidFill>
                <a:latin typeface="Arial"/>
                <a:ea typeface="Arial"/>
                <a:cs typeface="Arial"/>
              </a:defRPr>
            </a:pPr>
            <a:r>
              <a:rPr sz="713" b="1" i="0">
                <a:solidFill>
                  <a:srgbClr val="3F4A56"/>
                </a:solidFill>
                <a:latin typeface="Arial"/>
                <a:ea typeface="Arial"/>
                <a:cs typeface="Arial"/>
              </a:rPr>
              <a:t>AI HACKATHON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F5BE4B-0860-439E-AEC6-86DDE4AC8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33350"/>
            <a:ext cx="10953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52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52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RESEARCH AND REFERENCES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037DCE-2954-4BA8-ABD5-F42C5576E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66800"/>
            <a:ext cx="6048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MoSPI NSS 80th Round, Health Survey 2025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2B04CD-15E2-4519-B188-0D9D02427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58769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1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1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Summary: Insurance coverage remained below half in rural and urban India. Average out-of-pocket hospital expenditure was ₹34,064.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617C4F-3B2C-4D42-89E0-1FA3F3C81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57400"/>
            <a:ext cx="2190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1970"/>
          </a:bodyPr>
          <a:lstStyle xmlns:a="http://schemas.openxmlformats.org/drawingml/2006/main"/>
          <a:p xmlns:a="http://schemas.openxmlformats.org/drawingml/2006/main">
            <a:pPr algn="l">
              <a:defRPr sz="990" b="1" i="0">
                <a:solidFill>
                  <a:srgbClr val="075DC1"/>
                </a:solidFill>
                <a:latin typeface="Arial"/>
                <a:ea typeface="Arial"/>
                <a:cs typeface="Arial"/>
              </a:defRPr>
            </a:pPr>
            <a:r>
              <a:rPr sz="990" b="1" i="0">
                <a:solidFill>
                  <a:srgbClr val="075DC1"/>
                </a:solidFill>
                <a:latin typeface="Arial"/>
                <a:ea typeface="Arial"/>
                <a:cs typeface="Arial"/>
              </a:rPr>
              <a:t>Source link in speaker notes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F59255-C9B3-4621-A341-655C3D11D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19350"/>
            <a:ext cx="6048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National Health Accounts 2021-22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80C8C2-6868-4E24-B8EE-E3BA0CFE6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58769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1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1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Summary: Household out-of-pocket spending represented 39.4% of total health expenditure.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BAE282-F674-4852-ACDA-C12FFEC07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09950"/>
            <a:ext cx="2190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1970"/>
          </a:bodyPr>
          <a:lstStyle xmlns:a="http://schemas.openxmlformats.org/drawingml/2006/main"/>
          <a:p xmlns:a="http://schemas.openxmlformats.org/drawingml/2006/main">
            <a:pPr algn="l">
              <a:defRPr sz="990" b="1" i="0">
                <a:solidFill>
                  <a:srgbClr val="075DC1"/>
                </a:solidFill>
                <a:latin typeface="Arial"/>
                <a:ea typeface="Arial"/>
                <a:cs typeface="Arial"/>
              </a:defRPr>
            </a:pPr>
            <a:r>
              <a:rPr sz="990" b="1" i="0">
                <a:solidFill>
                  <a:srgbClr val="075DC1"/>
                </a:solidFill>
                <a:latin typeface="Arial"/>
                <a:ea typeface="Arial"/>
                <a:cs typeface="Arial"/>
              </a:rPr>
              <a:t>Source link in speaker notes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77E794-A6BC-43BA-AA50-59833192F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771900"/>
            <a:ext cx="6048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IRDAI Health Department and Bima Bharosa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036425-7DA8-4216-8D17-C9D2F01FA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0"/>
            <a:ext cx="58769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1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1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Summary: Cashless claim timelines and grievance escalation define the operational claim journey.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074E7E-A49E-4D9A-BD9E-702A4D84D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0"/>
            <a:ext cx="2190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1970"/>
          </a:bodyPr>
          <a:lstStyle xmlns:a="http://schemas.openxmlformats.org/drawingml/2006/main"/>
          <a:p xmlns:a="http://schemas.openxmlformats.org/drawingml/2006/main">
            <a:pPr algn="l">
              <a:defRPr sz="990" b="1" i="0">
                <a:solidFill>
                  <a:srgbClr val="075DC1"/>
                </a:solidFill>
                <a:latin typeface="Arial"/>
                <a:ea typeface="Arial"/>
                <a:cs typeface="Arial"/>
              </a:defRPr>
            </a:pPr>
            <a:r>
              <a:rPr sz="990" b="1" i="0">
                <a:solidFill>
                  <a:srgbClr val="075DC1"/>
                </a:solidFill>
                <a:latin typeface="Arial"/>
                <a:ea typeface="Arial"/>
                <a:cs typeface="Arial"/>
              </a:rPr>
              <a:t>Source link in speaker notes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D86A81-A72A-4BC6-89D4-807497BE7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124450"/>
            <a:ext cx="6048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RBI Digital Lending Safeguards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9D5120-F707-4DA0-A6C9-D73A92BD8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48300"/>
            <a:ext cx="58769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1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1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Summary: Offer comparison, APR, tenor and the Key Fact Statement guide the credit layer.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6856B9-76CF-4F68-9889-555E61EFB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15050"/>
            <a:ext cx="2190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1970"/>
          </a:bodyPr>
          <a:lstStyle xmlns:a="http://schemas.openxmlformats.org/drawingml/2006/main"/>
          <a:p xmlns:a="http://schemas.openxmlformats.org/drawingml/2006/main">
            <a:pPr algn="l">
              <a:defRPr sz="990" b="1" i="0">
                <a:solidFill>
                  <a:srgbClr val="075DC1"/>
                </a:solidFill>
                <a:latin typeface="Arial"/>
                <a:ea typeface="Arial"/>
                <a:cs typeface="Arial"/>
              </a:defRPr>
            </a:pPr>
            <a:r>
              <a:rPr sz="990" b="1" i="0">
                <a:solidFill>
                  <a:srgbClr val="075DC1"/>
                </a:solidFill>
                <a:latin typeface="Arial"/>
                <a:ea typeface="Arial"/>
                <a:cs typeface="Arial"/>
              </a:rPr>
              <a:t>Source link in speaker notes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779ED6-7C03-41DD-B404-59FEE5EBA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066800"/>
            <a:ext cx="6048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DPDP Act 2023 and DPDP Rules 2025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E527DA-D953-4DDA-A286-ED6A3E2B7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390650"/>
            <a:ext cx="58769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1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1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Summary: Consent must be specific, informed, withdrawable and limited to necessary data.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0D3B872-0485-46EB-9273-572A17D8F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57400"/>
            <a:ext cx="2190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1970"/>
          </a:bodyPr>
          <a:lstStyle xmlns:a="http://schemas.openxmlformats.org/drawingml/2006/main"/>
          <a:p xmlns:a="http://schemas.openxmlformats.org/drawingml/2006/main">
            <a:pPr algn="l">
              <a:defRPr sz="990" b="1" i="0">
                <a:solidFill>
                  <a:srgbClr val="075DC1"/>
                </a:solidFill>
                <a:latin typeface="Arial"/>
                <a:ea typeface="Arial"/>
                <a:cs typeface="Arial"/>
              </a:defRPr>
            </a:pPr>
            <a:r>
              <a:rPr sz="990" b="1" i="0">
                <a:solidFill>
                  <a:srgbClr val="075DC1"/>
                </a:solidFill>
                <a:latin typeface="Arial"/>
                <a:ea typeface="Arial"/>
                <a:cs typeface="Arial"/>
              </a:rPr>
              <a:t>Source link in speaker notes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EAFFC6-A6FA-46FC-BD02-B113CFC96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419350"/>
            <a:ext cx="6048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DigiLocker and Account Aggregator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3A9DC81-D4A5-417F-B111-70B296CDC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743200"/>
            <a:ext cx="58769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1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1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Summary: Verified documents and consent managed financial data reduce repeated uploads.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EF1B56-6302-486F-804C-842D2229C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409950"/>
            <a:ext cx="2190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1970"/>
          </a:bodyPr>
          <a:lstStyle xmlns:a="http://schemas.openxmlformats.org/drawingml/2006/main"/>
          <a:p xmlns:a="http://schemas.openxmlformats.org/drawingml/2006/main">
            <a:pPr algn="l">
              <a:defRPr sz="990" b="1" i="0">
                <a:solidFill>
                  <a:srgbClr val="075DC1"/>
                </a:solidFill>
                <a:latin typeface="Arial"/>
                <a:ea typeface="Arial"/>
                <a:cs typeface="Arial"/>
              </a:defRPr>
            </a:pPr>
            <a:r>
              <a:rPr sz="990" b="1" i="0">
                <a:solidFill>
                  <a:srgbClr val="075DC1"/>
                </a:solidFill>
                <a:latin typeface="Arial"/>
                <a:ea typeface="Arial"/>
                <a:cs typeface="Arial"/>
              </a:rPr>
              <a:t>Source link in speaker notes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2CEFCC9-E24F-4D71-A370-749E28864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771900"/>
            <a:ext cx="6048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myScheme, Bhashini and NHCX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832062A-51BD-4E13-A153-8C9EA75A9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95750"/>
            <a:ext cx="58769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1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1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Summary: Scheme discovery, Indian language APIs and health claim exchange standards support national scale.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BC62C58-2B69-4D1C-90CD-4D9763A19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762500"/>
            <a:ext cx="2190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1970"/>
          </a:bodyPr>
          <a:lstStyle xmlns:a="http://schemas.openxmlformats.org/drawingml/2006/main"/>
          <a:p xmlns:a="http://schemas.openxmlformats.org/drawingml/2006/main">
            <a:pPr algn="l">
              <a:defRPr sz="990" b="1" i="0">
                <a:solidFill>
                  <a:srgbClr val="075DC1"/>
                </a:solidFill>
                <a:latin typeface="Arial"/>
                <a:ea typeface="Arial"/>
                <a:cs typeface="Arial"/>
              </a:defRPr>
            </a:pPr>
            <a:r>
              <a:rPr sz="990" b="1" i="0">
                <a:solidFill>
                  <a:srgbClr val="075DC1"/>
                </a:solidFill>
                <a:latin typeface="Arial"/>
                <a:ea typeface="Arial"/>
                <a:cs typeface="Arial"/>
              </a:rPr>
              <a:t>Source link in speaker notes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B6742BF-7007-4665-8A1F-308F951A9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5124450"/>
            <a:ext cx="6048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Paytm Pi, Health Saathi and insurance materials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CD86470-AB2A-4BED-98D4-6872FD5CF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448300"/>
            <a:ext cx="58769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1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1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Summary: Paytm already positions agents, insurance distribution and merchant protection as strategic capabilities.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EDAA552-074E-4E39-9DE0-43B09A8BD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115050"/>
            <a:ext cx="2190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1970"/>
          </a:bodyPr>
          <a:lstStyle xmlns:a="http://schemas.openxmlformats.org/drawingml/2006/main"/>
          <a:p xmlns:a="http://schemas.openxmlformats.org/drawingml/2006/main">
            <a:pPr algn="l">
              <a:defRPr sz="990" b="1" i="0">
                <a:solidFill>
                  <a:srgbClr val="075DC1"/>
                </a:solidFill>
                <a:latin typeface="Arial"/>
                <a:ea typeface="Arial"/>
                <a:cs typeface="Arial"/>
              </a:defRPr>
            </a:pPr>
            <a:r>
              <a:rPr sz="990" b="1" i="0">
                <a:solidFill>
                  <a:srgbClr val="075DC1"/>
                </a:solidFill>
                <a:latin typeface="Arial"/>
                <a:ea typeface="Arial"/>
                <a:cs typeface="Arial"/>
              </a:rPr>
              <a:t>Source link in speaker notes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33C8595-7E19-4D57-98C4-162FBDECA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2687300" cy="590550"/>
          </a:xfrm>
          <a:prstGeom xmlns:a="http://schemas.openxmlformats.org/drawingml/2006/main" prst="roundRect">
            <a:avLst>
              <a:gd name="adj" fmla="val 20968"/>
            </a:avLst>
          </a:prstGeom>
          <a:solidFill xmlns:a="http://schemas.openxmlformats.org/drawingml/2006/main">
            <a:srgbClr val="F9A94F"/>
          </a:solidFill>
          <a:ln xmlns:a="http://schemas.openxmlformats.org/drawingml/2006/main" w="11430">
            <a:solidFill>
              <a:srgbClr val="00000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3C6DE62-8029-4B35-9ED7-B71253ED2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600825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WHY THIS IDEA SHOULD BE SELECTED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BF2CBF0-2A1E-4592-B6FA-636FC33C2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6581775"/>
            <a:ext cx="895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222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It solves a high-stakes financial journey, uses Paytm's existing strengths, defines responsible decision boundaries and offers a credible eight-hour proof.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8A636E1-743F-4548-B850-12C24820A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70294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029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02970"/>
                </a:solidFill>
                <a:latin typeface="Arial"/>
                <a:ea typeface="Arial"/>
                <a:cs typeface="Arial"/>
              </a:rPr>
              <a:t>PROTOTYPE LINK: TO BE ADDED AFTER THE HACKATHON BUILD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2ACC8F9-1740-4AF0-9E0A-B61E397C1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239000"/>
            <a:ext cx="1371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8BE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E29E46B-AA6E-40AB-B3A6-ECC59AC34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736282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556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PAYTM BUILD FOR INDIA AI HACKATHON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913FA5F-D9F2-4D14-AFF1-D20CE1C1F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77800" y="73533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45025962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2026-09-13T08:39:57.4810000Z</dcterms:created>
  <dcterms:modified xsi:type="dcterms:W3CDTF">2026-09-13T08:39:57.4810000Z</dcterms:modified>
</coreProperties>
</file>